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100" y="774700"/>
            <a:ext cx="12865100" cy="8191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48092" y="3982508"/>
            <a:ext cx="2425700" cy="174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450" b="0" i="0">
                <a:solidFill>
                  <a:srgbClr val="16443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E0E0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450" b="0" i="0">
                <a:solidFill>
                  <a:srgbClr val="16443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E0E0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450" b="0" i="0">
                <a:solidFill>
                  <a:srgbClr val="16443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450" b="0" i="0">
                <a:solidFill>
                  <a:srgbClr val="16443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32981" y="4198055"/>
            <a:ext cx="3009236" cy="146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450" b="0" i="0">
                <a:solidFill>
                  <a:srgbClr val="16443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72363" y="2693105"/>
            <a:ext cx="7569200" cy="2634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E0E0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Relationship Id="rId10" Type="http://schemas.openxmlformats.org/officeDocument/2006/relationships/image" Target="../media/image33.jpg"/><Relationship Id="rId11" Type="http://schemas.openxmlformats.org/officeDocument/2006/relationships/image" Target="../media/image34.jpg"/><Relationship Id="rId12" Type="http://schemas.openxmlformats.org/officeDocument/2006/relationships/image" Target="../media/image3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Relationship Id="rId6" Type="http://schemas.openxmlformats.org/officeDocument/2006/relationships/image" Target="../media/image44.jpg"/><Relationship Id="rId7" Type="http://schemas.openxmlformats.org/officeDocument/2006/relationships/image" Target="../media/image45.jpg"/><Relationship Id="rId8" Type="http://schemas.openxmlformats.org/officeDocument/2006/relationships/image" Target="../media/image46.png"/><Relationship Id="rId9" Type="http://schemas.openxmlformats.org/officeDocument/2006/relationships/image" Target="../media/image4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1847" y="4500033"/>
            <a:ext cx="1968500" cy="1231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900" spc="220">
                <a:solidFill>
                  <a:srgbClr val="164B42"/>
                </a:solidFill>
                <a:latin typeface="Calibri"/>
                <a:cs typeface="Calibri"/>
              </a:rPr>
              <a:t>esso</a:t>
            </a:r>
            <a:endParaRPr sz="79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29870">
              <a:lnSpc>
                <a:spcPts val="4930"/>
              </a:lnSpc>
              <a:spcBef>
                <a:spcPts val="90"/>
              </a:spcBef>
            </a:pPr>
            <a:r>
              <a:rPr dirty="0" sz="4800" spc="80">
                <a:solidFill>
                  <a:srgbClr val="134B42"/>
                </a:solidFill>
              </a:rPr>
              <a:t>Vivaz.</a:t>
            </a:r>
            <a:endParaRPr sz="4800"/>
          </a:p>
          <a:p>
            <a:pPr marL="12700">
              <a:lnSpc>
                <a:spcPts val="8650"/>
              </a:lnSpc>
            </a:pPr>
            <a:r>
              <a:rPr dirty="0" sz="7900" spc="195">
                <a:solidFill>
                  <a:srgbClr val="164B44"/>
                </a:solidFill>
              </a:rPr>
              <a:t>move</a:t>
            </a:r>
            <a:endParaRPr sz="7900"/>
          </a:p>
        </p:txBody>
      </p:sp>
      <p:sp>
        <p:nvSpPr>
          <p:cNvPr id="4" name="object 4"/>
          <p:cNvSpPr txBox="1"/>
          <p:nvPr/>
        </p:nvSpPr>
        <p:spPr>
          <a:xfrm>
            <a:off x="12654346" y="4500033"/>
            <a:ext cx="1917700" cy="1231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900" spc="254">
                <a:solidFill>
                  <a:srgbClr val="134642"/>
                </a:solidFill>
                <a:latin typeface="Calibri"/>
                <a:cs typeface="Calibri"/>
              </a:rPr>
              <a:t>ema</a:t>
            </a:r>
            <a:endParaRPr sz="7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1473" y="5800019"/>
            <a:ext cx="5177155" cy="586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650">
                <a:solidFill>
                  <a:srgbClr val="262626"/>
                </a:solidFill>
                <a:latin typeface="Calibri"/>
                <a:cs typeface="Calibri"/>
              </a:rPr>
              <a:t>Apresentaçäo</a:t>
            </a:r>
            <a:r>
              <a:rPr dirty="0" sz="3650" spc="3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3650">
                <a:solidFill>
                  <a:srgbClr val="262626"/>
                </a:solidFill>
                <a:latin typeface="Calibri"/>
                <a:cs typeface="Calibri"/>
              </a:rPr>
              <a:t>Ins</a:t>
            </a:r>
            <a:r>
              <a:rPr dirty="0" sz="3650" spc="4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3650">
                <a:solidFill>
                  <a:srgbClr val="1F1F1F"/>
                </a:solidFill>
                <a:latin typeface="Calibri"/>
                <a:cs typeface="Calibri"/>
              </a:rPr>
              <a:t>ituci</a:t>
            </a:r>
            <a:r>
              <a:rPr dirty="0" sz="3650" spc="180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3650" spc="-25">
                <a:solidFill>
                  <a:srgbClr val="1A1A1A"/>
                </a:solidFill>
                <a:latin typeface="Calibri"/>
                <a:cs typeface="Calibri"/>
              </a:rPr>
              <a:t>nal</a:t>
            </a:r>
            <a:endParaRPr sz="3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2387600"/>
            <a:ext cx="546100" cy="711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7100" y="1422400"/>
            <a:ext cx="8597900" cy="6756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7800" y="2349500"/>
            <a:ext cx="215900" cy="190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12100" y="2349500"/>
            <a:ext cx="215900" cy="1905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5089" y="853369"/>
            <a:ext cx="342836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solidFill>
                  <a:srgbClr val="2B2B2B"/>
                </a:solidFill>
                <a:latin typeface="Arial MT"/>
                <a:cs typeface="Arial MT"/>
              </a:rPr>
              <a:t>01  </a:t>
            </a:r>
            <a:r>
              <a:rPr dirty="0" sz="2400" spc="-25">
                <a:solidFill>
                  <a:srgbClr val="1A1A1A"/>
                </a:solidFill>
                <a:latin typeface="Arial MT"/>
                <a:cs typeface="Arial MT"/>
              </a:rPr>
              <a:t>PONTO </a:t>
            </a:r>
            <a:r>
              <a:rPr dirty="0" sz="2400">
                <a:solidFill>
                  <a:srgbClr val="0C0C0C"/>
                </a:solidFill>
                <a:latin typeface="Arial MT"/>
                <a:cs typeface="Arial MT"/>
              </a:rPr>
              <a:t>DE</a:t>
            </a:r>
            <a:r>
              <a:rPr dirty="0" sz="2400" spc="-1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400" spc="-75">
                <a:solidFill>
                  <a:srgbClr val="111111"/>
                </a:solidFill>
                <a:latin typeface="Arial MT"/>
                <a:cs typeface="Arial MT"/>
              </a:rPr>
              <a:t>PARTIDA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70532" y="1140883"/>
            <a:ext cx="8601075" cy="21818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8390"/>
              </a:lnSpc>
              <a:spcBef>
                <a:spcPts val="114"/>
              </a:spcBef>
            </a:pPr>
            <a:r>
              <a:rPr dirty="0" sz="7900" spc="515">
                <a:solidFill>
                  <a:srgbClr val="0F3B24"/>
                </a:solidFill>
              </a:rPr>
              <a:t>Toda</a:t>
            </a:r>
            <a:r>
              <a:rPr dirty="0" sz="7900" spc="-530">
                <a:solidFill>
                  <a:srgbClr val="0F3B24"/>
                </a:solidFill>
              </a:rPr>
              <a:t> </a:t>
            </a:r>
            <a:r>
              <a:rPr dirty="0" sz="7900" spc="580">
                <a:solidFill>
                  <a:srgbClr val="0E3B26"/>
                </a:solidFill>
              </a:rPr>
              <a:t>organizaçao</a:t>
            </a:r>
            <a:endParaRPr sz="7900"/>
          </a:p>
          <a:p>
            <a:pPr marL="746125">
              <a:lnSpc>
                <a:spcPts val="8570"/>
              </a:lnSpc>
            </a:pPr>
            <a:r>
              <a:rPr dirty="0" sz="8050" spc="900">
                <a:solidFill>
                  <a:srgbClr val="0E3423"/>
                </a:solidFill>
              </a:rPr>
              <a:t>um</a:t>
            </a:r>
            <a:r>
              <a:rPr dirty="0" sz="8050" spc="-615">
                <a:solidFill>
                  <a:srgbClr val="0E3423"/>
                </a:solidFill>
              </a:rPr>
              <a:t> </a:t>
            </a:r>
            <a:r>
              <a:rPr dirty="0" sz="8050" spc="570">
                <a:solidFill>
                  <a:srgbClr val="0E3823"/>
                </a:solidFill>
              </a:rPr>
              <a:t>sistema</a:t>
            </a:r>
            <a:r>
              <a:rPr dirty="0" sz="8050" spc="-595">
                <a:solidFill>
                  <a:srgbClr val="0E3823"/>
                </a:solidFill>
              </a:rPr>
              <a:t> </a:t>
            </a:r>
            <a:r>
              <a:rPr dirty="0" sz="8050" spc="415">
                <a:solidFill>
                  <a:srgbClr val="0E3823"/>
                </a:solidFill>
              </a:rPr>
              <a:t>vivo.</a:t>
            </a:r>
            <a:endParaRPr sz="8050"/>
          </a:p>
        </p:txBody>
      </p:sp>
      <p:sp>
        <p:nvSpPr>
          <p:cNvPr id="8" name="object 8"/>
          <p:cNvSpPr txBox="1"/>
          <p:nvPr/>
        </p:nvSpPr>
        <p:spPr>
          <a:xfrm>
            <a:off x="13534618" y="1295400"/>
            <a:ext cx="2857500" cy="120586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450"/>
              </a:spcBef>
            </a:pPr>
            <a:r>
              <a:rPr dirty="0" sz="3300" spc="130">
                <a:solidFill>
                  <a:srgbClr val="1C1C1C"/>
                </a:solidFill>
                <a:latin typeface="Arial MT"/>
                <a:cs typeface="Arial MT"/>
              </a:rPr>
              <a:t>A</a:t>
            </a:r>
            <a:r>
              <a:rPr dirty="0" sz="3300" spc="-27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3300" spc="70">
                <a:solidFill>
                  <a:srgbClr val="131313"/>
                </a:solidFill>
                <a:latin typeface="Arial MT"/>
                <a:cs typeface="Arial MT"/>
              </a:rPr>
              <a:t>Ilusão</a:t>
            </a:r>
            <a:endParaRPr sz="3300">
              <a:latin typeface="Arial MT"/>
              <a:cs typeface="Arial MT"/>
            </a:endParaRPr>
          </a:p>
          <a:p>
            <a:pPr marL="12700" marR="5080" indent="2540">
              <a:lnSpc>
                <a:spcPct val="79500"/>
              </a:lnSpc>
              <a:spcBef>
                <a:spcPts val="780"/>
              </a:spcBef>
            </a:pPr>
            <a:r>
              <a:rPr dirty="0" sz="2200" spc="-295">
                <a:solidFill>
                  <a:srgbClr val="161616"/>
                </a:solidFill>
                <a:latin typeface="Arial MT"/>
                <a:cs typeface="Arial MT"/>
              </a:rPr>
              <a:t>O</a:t>
            </a:r>
            <a:r>
              <a:rPr dirty="0" sz="2200" spc="-10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151515"/>
                </a:solidFill>
                <a:latin typeface="Arial MT"/>
                <a:cs typeface="Arial MT"/>
              </a:rPr>
              <a:t>que</a:t>
            </a:r>
            <a:r>
              <a:rPr dirty="0" sz="2200" spc="-5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131313"/>
                </a:solidFill>
                <a:latin typeface="Arial MT"/>
                <a:cs typeface="Arial MT"/>
              </a:rPr>
              <a:t>mantém</a:t>
            </a:r>
            <a:r>
              <a:rPr dirty="0" sz="2200" spc="-4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212121"/>
                </a:solidFill>
                <a:latin typeface="Arial MT"/>
                <a:cs typeface="Arial MT"/>
              </a:rPr>
              <a:t>o</a:t>
            </a:r>
            <a:r>
              <a:rPr dirty="0" sz="2200" spc="-2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151515"/>
                </a:solidFill>
                <a:latin typeface="Arial MT"/>
                <a:cs typeface="Arial MT"/>
              </a:rPr>
              <a:t>sistema </a:t>
            </a:r>
            <a:r>
              <a:rPr dirty="0" sz="2200" spc="-140">
                <a:solidFill>
                  <a:srgbClr val="1A1A1A"/>
                </a:solidFill>
                <a:latin typeface="Arial MT"/>
                <a:cs typeface="Arial MT"/>
              </a:rPr>
              <a:t>vivo</a:t>
            </a:r>
            <a:r>
              <a:rPr dirty="0" sz="2200" spc="-1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1F1F1F"/>
                </a:solidFill>
                <a:latin typeface="Arial MT"/>
                <a:cs typeface="Arial MT"/>
              </a:rPr>
              <a:t>não</a:t>
            </a:r>
            <a:r>
              <a:rPr dirty="0" sz="2200" spc="-14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282828"/>
                </a:solidFill>
                <a:latin typeface="Arial MT"/>
                <a:cs typeface="Arial MT"/>
              </a:rPr>
              <a:t>é</a:t>
            </a:r>
            <a:r>
              <a:rPr dirty="0" sz="2200" spc="-229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313131"/>
                </a:solidFill>
                <a:latin typeface="Arial MT"/>
                <a:cs typeface="Arial MT"/>
              </a:rPr>
              <a:t>o </a:t>
            </a:r>
            <a:r>
              <a:rPr dirty="0" sz="2200" spc="-165">
                <a:solidFill>
                  <a:srgbClr val="0E0E0E"/>
                </a:solidFill>
                <a:latin typeface="Arial MT"/>
                <a:cs typeface="Arial MT"/>
              </a:rPr>
              <a:t>organograma.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31710" y="3701697"/>
            <a:ext cx="3042920" cy="1976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 sz="3400" spc="65">
                <a:solidFill>
                  <a:srgbClr val="0F3623"/>
                </a:solidFill>
                <a:latin typeface="Arial MT"/>
                <a:cs typeface="Arial MT"/>
              </a:rPr>
              <a:t>A</a:t>
            </a:r>
            <a:r>
              <a:rPr dirty="0" sz="3400" spc="-254">
                <a:solidFill>
                  <a:srgbClr val="0F3623"/>
                </a:solidFill>
                <a:latin typeface="Arial MT"/>
                <a:cs typeface="Arial MT"/>
              </a:rPr>
              <a:t> </a:t>
            </a:r>
            <a:r>
              <a:rPr dirty="0" sz="3400" spc="-10">
                <a:solidFill>
                  <a:srgbClr val="1F1F1F"/>
                </a:solidFill>
                <a:latin typeface="Arial MT"/>
                <a:cs typeface="Arial MT"/>
              </a:rPr>
              <a:t>Realidade</a:t>
            </a:r>
            <a:endParaRPr sz="3400">
              <a:latin typeface="Arial MT"/>
              <a:cs typeface="Arial MT"/>
            </a:endParaRPr>
          </a:p>
          <a:p>
            <a:pPr marL="12700" marR="5080" indent="8255">
              <a:lnSpc>
                <a:spcPct val="76100"/>
              </a:lnSpc>
              <a:spcBef>
                <a:spcPts val="780"/>
              </a:spcBef>
            </a:pPr>
            <a:r>
              <a:rPr dirty="0" sz="2300" spc="-450">
                <a:solidFill>
                  <a:srgbClr val="232323"/>
                </a:solidFill>
                <a:latin typeface="Arial MT"/>
                <a:cs typeface="Arial MT"/>
              </a:rPr>
              <a:t>É</a:t>
            </a:r>
            <a:r>
              <a:rPr dirty="0" sz="2300" spc="-21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300" spc="-60">
                <a:solidFill>
                  <a:srgbClr val="262626"/>
                </a:solidFill>
                <a:latin typeface="Arial MT"/>
                <a:cs typeface="Arial MT"/>
              </a:rPr>
              <a:t>o</a:t>
            </a:r>
            <a:r>
              <a:rPr dirty="0" sz="2300" spc="-254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300" spc="-200">
                <a:solidFill>
                  <a:srgbClr val="151515"/>
                </a:solidFill>
                <a:latin typeface="Arial MT"/>
                <a:cs typeface="Arial MT"/>
              </a:rPr>
              <a:t>que</a:t>
            </a:r>
            <a:r>
              <a:rPr dirty="0" sz="2300" spc="-204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300" spc="-210">
                <a:solidFill>
                  <a:srgbClr val="161616"/>
                </a:solidFill>
                <a:latin typeface="Arial MT"/>
                <a:cs typeface="Arial MT"/>
              </a:rPr>
              <a:t>acontece</a:t>
            </a:r>
            <a:r>
              <a:rPr dirty="0" sz="2300" spc="-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300" spc="-180">
                <a:solidFill>
                  <a:srgbClr val="1D1D1D"/>
                </a:solidFill>
                <a:latin typeface="Arial MT"/>
                <a:cs typeface="Arial MT"/>
              </a:rPr>
              <a:t>entre</a:t>
            </a:r>
            <a:r>
              <a:rPr dirty="0" sz="2300" spc="-15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300" spc="-305">
                <a:solidFill>
                  <a:srgbClr val="1A1A1A"/>
                </a:solidFill>
                <a:latin typeface="Arial MT"/>
                <a:cs typeface="Arial MT"/>
              </a:rPr>
              <a:t>as </a:t>
            </a:r>
            <a:r>
              <a:rPr dirty="0" sz="2300" spc="-254">
                <a:solidFill>
                  <a:srgbClr val="111111"/>
                </a:solidFill>
                <a:latin typeface="Arial MT"/>
                <a:cs typeface="Arial MT"/>
              </a:rPr>
              <a:t>pessoas:</a:t>
            </a:r>
            <a:r>
              <a:rPr dirty="0" sz="2300" spc="-1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300" spc="-175">
                <a:solidFill>
                  <a:srgbClr val="1F1F1F"/>
                </a:solidFill>
                <a:latin typeface="Arial MT"/>
                <a:cs typeface="Arial MT"/>
              </a:rPr>
              <a:t>o</a:t>
            </a:r>
            <a:r>
              <a:rPr dirty="0" sz="2300" spc="-1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300" spc="-105">
                <a:solidFill>
                  <a:srgbClr val="1C1C1C"/>
                </a:solidFill>
                <a:latin typeface="Arial MT"/>
                <a:cs typeface="Arial MT"/>
              </a:rPr>
              <a:t>conhecimento </a:t>
            </a:r>
            <a:r>
              <a:rPr dirty="0" sz="2300" spc="-200">
                <a:solidFill>
                  <a:srgbClr val="161616"/>
                </a:solidFill>
                <a:latin typeface="Arial MT"/>
                <a:cs typeface="Arial MT"/>
              </a:rPr>
              <a:t>que</a:t>
            </a:r>
            <a:r>
              <a:rPr dirty="0" sz="2300" spc="-21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300" spc="-175">
                <a:solidFill>
                  <a:srgbClr val="111111"/>
                </a:solidFill>
                <a:latin typeface="Arial MT"/>
                <a:cs typeface="Arial MT"/>
              </a:rPr>
              <a:t>circula.</a:t>
            </a:r>
            <a:r>
              <a:rPr dirty="0" sz="2300" spc="-114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300" spc="-385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dirty="0" sz="2300" spc="-12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300" spc="-210">
                <a:solidFill>
                  <a:srgbClr val="181818"/>
                </a:solidFill>
                <a:latin typeface="Arial MT"/>
                <a:cs typeface="Arial MT"/>
              </a:rPr>
              <a:t>confiança</a:t>
            </a:r>
            <a:r>
              <a:rPr dirty="0" sz="2300" spc="8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300" spc="-80">
                <a:solidFill>
                  <a:srgbClr val="181818"/>
                </a:solidFill>
                <a:latin typeface="Arial MT"/>
                <a:cs typeface="Arial MT"/>
              </a:rPr>
              <a:t>que </a:t>
            </a:r>
            <a:r>
              <a:rPr dirty="0" sz="2300" spc="-220">
                <a:solidFill>
                  <a:srgbClr val="131313"/>
                </a:solidFill>
                <a:latin typeface="Arial MT"/>
                <a:cs typeface="Arial MT"/>
              </a:rPr>
              <a:t>sustenta,</a:t>
            </a:r>
            <a:r>
              <a:rPr dirty="0" sz="2300" spc="-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300" spc="-27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2300" spc="-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300" spc="-200">
                <a:solidFill>
                  <a:srgbClr val="0F0F0F"/>
                </a:solidFill>
                <a:latin typeface="Arial MT"/>
                <a:cs typeface="Arial MT"/>
              </a:rPr>
              <a:t>diferença</a:t>
            </a:r>
            <a:r>
              <a:rPr dirty="0" sz="2300" spc="9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1D1D1D"/>
                </a:solidFill>
                <a:latin typeface="Arial MT"/>
                <a:cs typeface="Arial MT"/>
              </a:rPr>
              <a:t>que </a:t>
            </a:r>
            <a:r>
              <a:rPr dirty="0" sz="2300" spc="-250">
                <a:solidFill>
                  <a:srgbClr val="262626"/>
                </a:solidFill>
                <a:latin typeface="Arial MT"/>
                <a:cs typeface="Arial MT"/>
              </a:rPr>
              <a:t>gera</a:t>
            </a:r>
            <a:r>
              <a:rPr dirty="0" sz="2300" spc="-6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300" spc="-185">
                <a:solidFill>
                  <a:srgbClr val="0A0A0A"/>
                </a:solidFill>
                <a:latin typeface="Arial MT"/>
                <a:cs typeface="Arial MT"/>
              </a:rPr>
              <a:t>ideia</a:t>
            </a:r>
            <a:r>
              <a:rPr dirty="0" sz="2300" spc="-3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300" spc="-30">
                <a:solidFill>
                  <a:srgbClr val="0A0A0A"/>
                </a:solidFill>
                <a:latin typeface="Arial MT"/>
                <a:cs typeface="Arial MT"/>
              </a:rPr>
              <a:t>nova.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01137" y="8288866"/>
            <a:ext cx="4224020" cy="87630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 indent="10795">
              <a:lnSpc>
                <a:spcPts val="2100"/>
              </a:lnSpc>
              <a:spcBef>
                <a:spcPts val="500"/>
              </a:spcBef>
            </a:pPr>
            <a:r>
              <a:rPr dirty="0" sz="2050" spc="-114">
                <a:solidFill>
                  <a:srgbClr val="181818"/>
                </a:solidFill>
                <a:latin typeface="Arial MT"/>
                <a:cs typeface="Arial MT"/>
              </a:rPr>
              <a:t>Quando</a:t>
            </a:r>
            <a:r>
              <a:rPr dirty="0" sz="2050" spc="-3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 spc="-110">
                <a:solidFill>
                  <a:srgbClr val="1C1C1C"/>
                </a:solidFill>
                <a:latin typeface="Arial MT"/>
                <a:cs typeface="Arial MT"/>
              </a:rPr>
              <a:t>esses</a:t>
            </a:r>
            <a:r>
              <a:rPr dirty="0" sz="2050" spc="-114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181818"/>
                </a:solidFill>
                <a:latin typeface="Arial MT"/>
                <a:cs typeface="Arial MT"/>
              </a:rPr>
              <a:t>encontros</a:t>
            </a:r>
            <a:r>
              <a:rPr dirty="0" sz="2050" spc="-2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3A3A3A"/>
                </a:solidFill>
                <a:latin typeface="Arial MT"/>
                <a:cs typeface="Arial MT"/>
              </a:rPr>
              <a:t>se</a:t>
            </a:r>
            <a:r>
              <a:rPr dirty="0" sz="2050" spc="-15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1A1A1A"/>
                </a:solidFill>
                <a:latin typeface="Arial MT"/>
                <a:cs typeface="Arial MT"/>
              </a:rPr>
              <a:t>rompem, </a:t>
            </a:r>
            <a:r>
              <a:rPr dirty="0" sz="2050" spc="-45">
                <a:solidFill>
                  <a:srgbClr val="212121"/>
                </a:solidFill>
                <a:latin typeface="Arial MT"/>
                <a:cs typeface="Arial MT"/>
              </a:rPr>
              <a:t>nem</a:t>
            </a:r>
            <a:r>
              <a:rPr dirty="0" sz="2050" spc="-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050" spc="-135">
                <a:solidFill>
                  <a:srgbClr val="242424"/>
                </a:solidFill>
                <a:latin typeface="Arial MT"/>
                <a:cs typeface="Arial MT"/>
              </a:rPr>
              <a:t>a</a:t>
            </a:r>
            <a:r>
              <a:rPr dirty="0" sz="2050" spc="-15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0F0F0F"/>
                </a:solidFill>
                <a:latin typeface="Arial MT"/>
                <a:cs typeface="Arial MT"/>
              </a:rPr>
              <a:t>melhor</a:t>
            </a:r>
            <a:r>
              <a:rPr dirty="0" sz="2050" spc="-1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50" spc="-70">
                <a:solidFill>
                  <a:srgbClr val="131313"/>
                </a:solidFill>
                <a:latin typeface="Arial MT"/>
                <a:cs typeface="Arial MT"/>
              </a:rPr>
              <a:t>estratégia</a:t>
            </a:r>
            <a:r>
              <a:rPr dirty="0" sz="2050" spc="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212121"/>
                </a:solidFill>
                <a:latin typeface="Arial MT"/>
                <a:cs typeface="Arial MT"/>
              </a:rPr>
              <a:t>do</a:t>
            </a:r>
            <a:r>
              <a:rPr dirty="0" sz="2050" spc="-1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050" spc="-65">
                <a:solidFill>
                  <a:srgbClr val="0F0F0F"/>
                </a:solidFill>
                <a:latin typeface="Arial MT"/>
                <a:cs typeface="Arial MT"/>
              </a:rPr>
              <a:t>mundo</a:t>
            </a:r>
            <a:r>
              <a:rPr dirty="0" sz="2050" spc="-8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161616"/>
                </a:solidFill>
                <a:latin typeface="Arial MT"/>
                <a:cs typeface="Arial MT"/>
              </a:rPr>
              <a:t>faz </a:t>
            </a:r>
            <a:r>
              <a:rPr dirty="0" sz="2050" spc="-135">
                <a:solidFill>
                  <a:srgbClr val="3A3A3A"/>
                </a:solidFill>
                <a:latin typeface="Arial MT"/>
                <a:cs typeface="Arial MT"/>
              </a:rPr>
              <a:t>a</a:t>
            </a:r>
            <a:r>
              <a:rPr dirty="0" sz="2050" spc="-9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050" spc="-85">
                <a:solidFill>
                  <a:srgbClr val="131313"/>
                </a:solidFill>
                <a:latin typeface="Arial MT"/>
                <a:cs typeface="Arial MT"/>
              </a:rPr>
              <a:t>empresa</a:t>
            </a:r>
            <a:r>
              <a:rPr dirty="0" sz="2050" spc="4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 spc="-125">
                <a:solidFill>
                  <a:srgbClr val="131313"/>
                </a:solidFill>
                <a:latin typeface="Arial MT"/>
                <a:cs typeface="Arial MT"/>
              </a:rPr>
              <a:t>sair</a:t>
            </a:r>
            <a:r>
              <a:rPr dirty="0" sz="2050" spc="-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1A1A1A"/>
                </a:solidFill>
                <a:latin typeface="Arial MT"/>
                <a:cs typeface="Arial MT"/>
              </a:rPr>
              <a:t>do</a:t>
            </a:r>
            <a:r>
              <a:rPr dirty="0" sz="2050" spc="-1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181818"/>
                </a:solidFill>
                <a:latin typeface="Arial MT"/>
                <a:cs typeface="Arial MT"/>
              </a:rPr>
              <a:t>lugar.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1900" y="7251700"/>
            <a:ext cx="5410200" cy="1371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1900" y="5651500"/>
            <a:ext cx="5410200" cy="901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84600" y="3632200"/>
            <a:ext cx="7302500" cy="1663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3300" y="889000"/>
            <a:ext cx="1282700" cy="558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27500" y="927100"/>
            <a:ext cx="2425700" cy="5207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788400" y="7071783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 h="0">
                <a:moveTo>
                  <a:pt x="0" y="0"/>
                </a:moveTo>
                <a:lnTo>
                  <a:pt x="524933" y="0"/>
                </a:lnTo>
              </a:path>
            </a:pathLst>
          </a:custGeom>
          <a:ln w="4233">
            <a:solidFill>
              <a:srgbClr val="907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22900" y="1979083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5" h="0">
                <a:moveTo>
                  <a:pt x="0" y="0"/>
                </a:moveTo>
                <a:lnTo>
                  <a:pt x="347133" y="0"/>
                </a:lnTo>
              </a:path>
            </a:pathLst>
          </a:custGeom>
          <a:ln w="29633">
            <a:solidFill>
              <a:srgbClr val="2F3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37700" y="5943600"/>
            <a:ext cx="1536700" cy="1117600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433091" y="502708"/>
            <a:ext cx="1529715" cy="11366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300" spc="120">
                <a:solidFill>
                  <a:srgbClr val="113D28"/>
                </a:solidFill>
              </a:rPr>
              <a:t>que</a:t>
            </a:r>
            <a:endParaRPr sz="7300"/>
          </a:p>
        </p:txBody>
      </p:sp>
      <p:sp>
        <p:nvSpPr>
          <p:cNvPr id="11" name="object 11"/>
          <p:cNvSpPr txBox="1"/>
          <p:nvPr/>
        </p:nvSpPr>
        <p:spPr>
          <a:xfrm>
            <a:off x="6716082" y="502708"/>
            <a:ext cx="9257030" cy="1136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300" spc="90">
                <a:solidFill>
                  <a:srgbClr val="0A3D23"/>
                </a:solidFill>
                <a:latin typeface="Calibri"/>
                <a:cs typeface="Calibri"/>
              </a:rPr>
              <a:t>transformaçães</a:t>
            </a:r>
            <a:r>
              <a:rPr dirty="0" sz="7300" spc="-790">
                <a:solidFill>
                  <a:srgbClr val="0A3D23"/>
                </a:solidFill>
                <a:latin typeface="Calibri"/>
                <a:cs typeface="Calibri"/>
              </a:rPr>
              <a:t> </a:t>
            </a:r>
            <a:r>
              <a:rPr dirty="0" sz="7300" spc="-10">
                <a:solidFill>
                  <a:srgbClr val="0C311C"/>
                </a:solidFill>
                <a:latin typeface="Calibri"/>
                <a:cs typeface="Calibri"/>
              </a:rPr>
              <a:t>falham?</a:t>
            </a:r>
            <a:endParaRPr sz="7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7076" y="1648177"/>
            <a:ext cx="11207115" cy="693039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5875" marR="5080" indent="5715">
              <a:lnSpc>
                <a:spcPts val="3600"/>
              </a:lnSpc>
              <a:spcBef>
                <a:spcPts val="690"/>
              </a:spcBef>
              <a:tabLst>
                <a:tab pos="4889500" algn="l"/>
              </a:tabLst>
            </a:pPr>
            <a:r>
              <a:rPr dirty="0" sz="3450">
                <a:solidFill>
                  <a:srgbClr val="111111"/>
                </a:solidFill>
                <a:latin typeface="Calibri"/>
                <a:cs typeface="Calibri"/>
              </a:rPr>
              <a:t>Náo</a:t>
            </a:r>
            <a:r>
              <a:rPr dirty="0" sz="3450" spc="-10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450">
                <a:solidFill>
                  <a:srgbClr val="080808"/>
                </a:solidFill>
                <a:latin typeface="Calibri"/>
                <a:cs typeface="Calibri"/>
              </a:rPr>
              <a:t>por</a:t>
            </a:r>
            <a:r>
              <a:rPr dirty="0" sz="3450" spc="-2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3450" spc="-65">
                <a:solidFill>
                  <a:srgbClr val="0A0A0A"/>
                </a:solidFill>
                <a:latin typeface="Calibri"/>
                <a:cs typeface="Calibri"/>
              </a:rPr>
              <a:t>falta</a:t>
            </a:r>
            <a:r>
              <a:rPr dirty="0" sz="3450" spc="-13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450" spc="65">
                <a:solidFill>
                  <a:srgbClr val="080808"/>
                </a:solidFill>
                <a:latin typeface="Calibri"/>
                <a:cs typeface="Calibri"/>
              </a:rPr>
              <a:t>de</a:t>
            </a:r>
            <a:r>
              <a:rPr dirty="0" sz="3450" spc="-16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3450" spc="-10">
                <a:solidFill>
                  <a:srgbClr val="050505"/>
                </a:solidFill>
                <a:latin typeface="Calibri"/>
                <a:cs typeface="Calibri"/>
              </a:rPr>
              <a:t>método</a:t>
            </a:r>
            <a:r>
              <a:rPr dirty="0" sz="3450">
                <a:solidFill>
                  <a:srgbClr val="050505"/>
                </a:solidFill>
                <a:latin typeface="Calibri"/>
                <a:cs typeface="Calibri"/>
              </a:rPr>
              <a:t>	</a:t>
            </a:r>
            <a:r>
              <a:rPr dirty="0" sz="3450">
                <a:solidFill>
                  <a:srgbClr val="080808"/>
                </a:solidFill>
                <a:latin typeface="Calibri"/>
                <a:cs typeface="Calibri"/>
              </a:rPr>
              <a:t>mas</a:t>
            </a:r>
            <a:r>
              <a:rPr dirty="0" sz="3450" spc="-16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3450" spc="-85">
                <a:solidFill>
                  <a:srgbClr val="050505"/>
                </a:solidFill>
                <a:latin typeface="Calibri"/>
                <a:cs typeface="Calibri"/>
              </a:rPr>
              <a:t>por</a:t>
            </a:r>
            <a:r>
              <a:rPr dirty="0" sz="3450" spc="-9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3450" spc="-120">
                <a:solidFill>
                  <a:srgbClr val="080808"/>
                </a:solidFill>
                <a:latin typeface="Calibri"/>
                <a:cs typeface="Calibri"/>
              </a:rPr>
              <a:t>tratar</a:t>
            </a:r>
            <a:r>
              <a:rPr dirty="0" sz="3450" spc="-3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3450" spc="-70">
                <a:solidFill>
                  <a:srgbClr val="050505"/>
                </a:solidFill>
                <a:latin typeface="Calibri"/>
                <a:cs typeface="Calibri"/>
              </a:rPr>
              <a:t>partes</a:t>
            </a:r>
            <a:r>
              <a:rPr dirty="0" sz="3450" spc="-55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3450" spc="-50">
                <a:latin typeface="Calibri"/>
                <a:cs typeface="Calibri"/>
              </a:rPr>
              <a:t>isoladas</a:t>
            </a:r>
            <a:r>
              <a:rPr dirty="0" sz="3450" spc="-45">
                <a:latin typeface="Calibri"/>
                <a:cs typeface="Calibri"/>
              </a:rPr>
              <a:t> </a:t>
            </a:r>
            <a:r>
              <a:rPr dirty="0" sz="3450">
                <a:solidFill>
                  <a:srgbClr val="0A0A0A"/>
                </a:solidFill>
                <a:latin typeface="Calibri"/>
                <a:cs typeface="Calibri"/>
              </a:rPr>
              <a:t>de</a:t>
            </a:r>
            <a:r>
              <a:rPr dirty="0" sz="3450" spc="-19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450" spc="35">
                <a:solidFill>
                  <a:srgbClr val="0C0C0C"/>
                </a:solidFill>
                <a:latin typeface="Calibri"/>
                <a:cs typeface="Calibri"/>
              </a:rPr>
              <a:t>um </a:t>
            </a:r>
            <a:r>
              <a:rPr dirty="0" sz="3450" spc="-30">
                <a:latin typeface="Calibri"/>
                <a:cs typeface="Calibri"/>
              </a:rPr>
              <a:t>sistema</a:t>
            </a:r>
            <a:r>
              <a:rPr dirty="0" sz="3450" spc="-130">
                <a:latin typeface="Calibri"/>
                <a:cs typeface="Calibri"/>
              </a:rPr>
              <a:t> </a:t>
            </a:r>
            <a:r>
              <a:rPr dirty="0" sz="3450">
                <a:solidFill>
                  <a:srgbClr val="0A0A0A"/>
                </a:solidFill>
                <a:latin typeface="Calibri"/>
                <a:cs typeface="Calibri"/>
              </a:rPr>
              <a:t>que</a:t>
            </a:r>
            <a:r>
              <a:rPr dirty="0" sz="3450" spc="-9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450" spc="-40">
                <a:solidFill>
                  <a:srgbClr val="050505"/>
                </a:solidFill>
                <a:latin typeface="Calibri"/>
                <a:cs typeface="Calibri"/>
              </a:rPr>
              <a:t>precisa</a:t>
            </a:r>
            <a:r>
              <a:rPr dirty="0" sz="3450" spc="-95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3450" spc="-10">
                <a:solidFill>
                  <a:srgbClr val="050505"/>
                </a:solidFill>
                <a:latin typeface="Calibri"/>
                <a:cs typeface="Calibri"/>
              </a:rPr>
              <a:t>ser</a:t>
            </a:r>
            <a:r>
              <a:rPr dirty="0" sz="3450" spc="-11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3450" spc="-70">
                <a:solidFill>
                  <a:srgbClr val="080808"/>
                </a:solidFill>
                <a:latin typeface="Calibri"/>
                <a:cs typeface="Calibri"/>
              </a:rPr>
              <a:t>avaliado</a:t>
            </a:r>
            <a:r>
              <a:rPr dirty="0" sz="3450" spc="-9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3450">
                <a:solidFill>
                  <a:srgbClr val="0A0A0A"/>
                </a:solidFill>
                <a:latin typeface="Calibri"/>
                <a:cs typeface="Calibri"/>
              </a:rPr>
              <a:t>de</a:t>
            </a:r>
            <a:r>
              <a:rPr dirty="0" sz="3450" spc="-19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450" spc="-65">
                <a:solidFill>
                  <a:srgbClr val="080808"/>
                </a:solidFill>
                <a:latin typeface="Calibri"/>
                <a:cs typeface="Calibri"/>
              </a:rPr>
              <a:t>maneira</a:t>
            </a:r>
            <a:r>
              <a:rPr dirty="0" sz="3450" spc="-4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3450" spc="-10">
                <a:solidFill>
                  <a:srgbClr val="050505"/>
                </a:solidFill>
                <a:latin typeface="Calibri"/>
                <a:cs typeface="Calibri"/>
              </a:rPr>
              <a:t>coordenada.</a:t>
            </a:r>
            <a:endParaRPr sz="3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90"/>
              </a:spcBef>
            </a:pPr>
            <a:endParaRPr sz="3450">
              <a:latin typeface="Calibri"/>
              <a:cs typeface="Calibri"/>
            </a:endParaRPr>
          </a:p>
          <a:p>
            <a:pPr marL="12700" marR="9063990" indent="7620">
              <a:lnSpc>
                <a:spcPct val="76400"/>
              </a:lnSpc>
            </a:pPr>
            <a:r>
              <a:rPr dirty="0" sz="3600" spc="-85">
                <a:solidFill>
                  <a:srgbClr val="0A0A0A"/>
                </a:solidFill>
                <a:latin typeface="Calibri"/>
                <a:cs typeface="Calibri"/>
              </a:rPr>
              <a:t>Mexe-</a:t>
            </a:r>
            <a:r>
              <a:rPr dirty="0" sz="3600" spc="-60">
                <a:solidFill>
                  <a:srgbClr val="0A0A0A"/>
                </a:solidFill>
                <a:latin typeface="Calibri"/>
                <a:cs typeface="Calibri"/>
              </a:rPr>
              <a:t>se</a:t>
            </a:r>
            <a:r>
              <a:rPr dirty="0" sz="3600" spc="-12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600" spc="114">
                <a:solidFill>
                  <a:srgbClr val="1A1A1A"/>
                </a:solidFill>
                <a:latin typeface="Calibri"/>
                <a:cs typeface="Calibri"/>
              </a:rPr>
              <a:t>na </a:t>
            </a:r>
            <a:r>
              <a:rPr dirty="0" sz="3600" spc="-10">
                <a:solidFill>
                  <a:srgbClr val="0C0C0C"/>
                </a:solidFill>
                <a:latin typeface="Calibri"/>
                <a:cs typeface="Calibri"/>
              </a:rPr>
              <a:t>estrutura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35"/>
              </a:spcBef>
            </a:pPr>
            <a:endParaRPr sz="3600">
              <a:latin typeface="Calibri"/>
              <a:cs typeface="Calibri"/>
            </a:endParaRPr>
          </a:p>
          <a:p>
            <a:pPr marL="17780">
              <a:lnSpc>
                <a:spcPts val="3645"/>
              </a:lnSpc>
            </a:pPr>
            <a:r>
              <a:rPr dirty="0" sz="3450" spc="-150">
                <a:solidFill>
                  <a:srgbClr val="0F0F0F"/>
                </a:solidFill>
                <a:latin typeface="Arial MT"/>
                <a:cs typeface="Arial MT"/>
              </a:rPr>
              <a:t>Investe-</a:t>
            </a:r>
            <a:r>
              <a:rPr dirty="0" sz="3450" spc="-25">
                <a:solidFill>
                  <a:srgbClr val="0F0F0F"/>
                </a:solidFill>
                <a:latin typeface="Arial MT"/>
                <a:cs typeface="Arial MT"/>
              </a:rPr>
              <a:t>se</a:t>
            </a:r>
            <a:endParaRPr sz="3450">
              <a:latin typeface="Arial MT"/>
              <a:cs typeface="Arial MT"/>
            </a:endParaRPr>
          </a:p>
          <a:p>
            <a:pPr marL="16510">
              <a:lnSpc>
                <a:spcPts val="3825"/>
              </a:lnSpc>
            </a:pPr>
            <a:r>
              <a:rPr dirty="0" sz="3600" spc="-125">
                <a:solidFill>
                  <a:srgbClr val="131313"/>
                </a:solidFill>
                <a:latin typeface="Arial MT"/>
                <a:cs typeface="Arial MT"/>
              </a:rPr>
              <a:t>em</a:t>
            </a:r>
            <a:r>
              <a:rPr dirty="0" sz="3600" spc="-26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3600" spc="-60">
                <a:solidFill>
                  <a:srgbClr val="111111"/>
                </a:solidFill>
                <a:latin typeface="Arial MT"/>
                <a:cs typeface="Arial MT"/>
              </a:rPr>
              <a:t>liderança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40"/>
              </a:spcBef>
            </a:pPr>
            <a:endParaRPr sz="3600">
              <a:latin typeface="Arial MT"/>
              <a:cs typeface="Arial MT"/>
            </a:endParaRPr>
          </a:p>
          <a:p>
            <a:pPr marL="12700">
              <a:lnSpc>
                <a:spcPts val="3885"/>
              </a:lnSpc>
            </a:pPr>
            <a:r>
              <a:rPr dirty="0" sz="3600" spc="-10">
                <a:solidFill>
                  <a:srgbClr val="0E0E0E"/>
                </a:solidFill>
                <a:latin typeface="Calibri"/>
                <a:cs typeface="Calibri"/>
              </a:rPr>
              <a:t>Anunciam-</a:t>
            </a:r>
            <a:r>
              <a:rPr dirty="0" sz="3600" spc="-25">
                <a:solidFill>
                  <a:srgbClr val="0E0E0E"/>
                </a:solidFill>
                <a:latin typeface="Calibri"/>
                <a:cs typeface="Calibri"/>
              </a:rPr>
              <a:t>se</a:t>
            </a:r>
            <a:endParaRPr sz="3600">
              <a:latin typeface="Calibri"/>
              <a:cs typeface="Calibri"/>
            </a:endParaRPr>
          </a:p>
          <a:p>
            <a:pPr marL="13335">
              <a:lnSpc>
                <a:spcPts val="3704"/>
              </a:lnSpc>
            </a:pPr>
            <a:r>
              <a:rPr dirty="0" sz="3450" spc="-10">
                <a:solidFill>
                  <a:srgbClr val="111111"/>
                </a:solidFill>
                <a:latin typeface="Calibri"/>
                <a:cs typeface="Calibri"/>
              </a:rPr>
              <a:t>valores</a:t>
            </a:r>
            <a:endParaRPr sz="3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27300"/>
            <a:ext cx="9893300" cy="4813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900" y="3086100"/>
            <a:ext cx="571500" cy="520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64900" y="3022600"/>
            <a:ext cx="2006600" cy="596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1812" y="1847497"/>
            <a:ext cx="193167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30">
                <a:solidFill>
                  <a:srgbClr val="0A0A0A"/>
                </a:solidFill>
                <a:latin typeface="Arial MT"/>
                <a:cs typeface="Arial MT"/>
              </a:rPr>
              <a:t>Estratégia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8634" y="4162777"/>
            <a:ext cx="1418590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20">
                <a:solidFill>
                  <a:srgbClr val="0C0C0C"/>
                </a:solidFill>
                <a:latin typeface="Arial MT"/>
                <a:cs typeface="Arial MT"/>
              </a:rPr>
              <a:t>Cultura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7132" y="6613877"/>
            <a:ext cx="1376045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80">
                <a:solidFill>
                  <a:srgbClr val="0F0F0F"/>
                </a:solidFill>
                <a:latin typeface="Arial MT"/>
                <a:cs typeface="Arial MT"/>
              </a:rPr>
              <a:t>Gestão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0471822" y="2665588"/>
            <a:ext cx="5839460" cy="27279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983230">
              <a:lnSpc>
                <a:spcPts val="7584"/>
              </a:lnSpc>
              <a:spcBef>
                <a:spcPts val="110"/>
              </a:spcBef>
            </a:pPr>
            <a:r>
              <a:rPr dirty="0" sz="7350" spc="85">
                <a:solidFill>
                  <a:srgbClr val="074941"/>
                </a:solidFill>
              </a:rPr>
              <a:t>nasce</a:t>
            </a:r>
            <a:endParaRPr sz="7350"/>
          </a:p>
          <a:p>
            <a:pPr marL="12700">
              <a:lnSpc>
                <a:spcPts val="6370"/>
              </a:lnSpc>
            </a:pPr>
            <a:r>
              <a:rPr dirty="0" sz="7300">
                <a:solidFill>
                  <a:srgbClr val="0A443B"/>
                </a:solidFill>
              </a:rPr>
              <a:t>para</a:t>
            </a:r>
            <a:r>
              <a:rPr dirty="0" sz="7300" spc="-345">
                <a:solidFill>
                  <a:srgbClr val="0A443B"/>
                </a:solidFill>
              </a:rPr>
              <a:t> </a:t>
            </a:r>
            <a:r>
              <a:rPr dirty="0" sz="7300" spc="-10">
                <a:solidFill>
                  <a:srgbClr val="07342D"/>
                </a:solidFill>
              </a:rPr>
              <a:t>mover</a:t>
            </a:r>
            <a:endParaRPr sz="7300"/>
          </a:p>
          <a:p>
            <a:pPr marL="15240">
              <a:lnSpc>
                <a:spcPts val="7305"/>
              </a:lnSpc>
            </a:pPr>
            <a:r>
              <a:rPr dirty="0" sz="7050" spc="240">
                <a:solidFill>
                  <a:srgbClr val="074438"/>
                </a:solidFill>
              </a:rPr>
              <a:t>esses</a:t>
            </a:r>
            <a:r>
              <a:rPr dirty="0" sz="7050" spc="-135">
                <a:solidFill>
                  <a:srgbClr val="074438"/>
                </a:solidFill>
              </a:rPr>
              <a:t> </a:t>
            </a:r>
            <a:r>
              <a:rPr dirty="0" sz="7050" spc="100">
                <a:solidFill>
                  <a:srgbClr val="012F23"/>
                </a:solidFill>
              </a:rPr>
              <a:t>sistemas.</a:t>
            </a:r>
            <a:endParaRPr sz="7050"/>
          </a:p>
        </p:txBody>
      </p:sp>
      <p:sp>
        <p:nvSpPr>
          <p:cNvPr id="9" name="object 9"/>
          <p:cNvSpPr txBox="1"/>
          <p:nvPr/>
        </p:nvSpPr>
        <p:spPr>
          <a:xfrm>
            <a:off x="10528775" y="5577063"/>
            <a:ext cx="5731510" cy="132524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 marR="5080" indent="5715">
              <a:lnSpc>
                <a:spcPct val="93900"/>
              </a:lnSpc>
              <a:spcBef>
                <a:spcPts val="350"/>
              </a:spcBef>
            </a:pPr>
            <a:r>
              <a:rPr dirty="0" sz="2950" spc="-60">
                <a:latin typeface="Arial MT"/>
                <a:cs typeface="Arial MT"/>
              </a:rPr>
              <a:t>Conectando,</a:t>
            </a:r>
            <a:r>
              <a:rPr dirty="0" sz="2950" spc="-130"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0A0A0A"/>
                </a:solidFill>
                <a:latin typeface="Arial MT"/>
                <a:cs typeface="Arial MT"/>
              </a:rPr>
              <a:t>de</a:t>
            </a:r>
            <a:r>
              <a:rPr dirty="0" sz="2950" spc="-18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0C0C0C"/>
                </a:solidFill>
                <a:latin typeface="Arial MT"/>
                <a:cs typeface="Arial MT"/>
              </a:rPr>
              <a:t>forma</a:t>
            </a:r>
            <a:r>
              <a:rPr dirty="0" sz="2950" spc="-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950" spc="-60">
                <a:latin typeface="Arial MT"/>
                <a:cs typeface="Arial MT"/>
              </a:rPr>
              <a:t>coordenada, </a:t>
            </a:r>
            <a:r>
              <a:rPr dirty="0" sz="2950" spc="-280">
                <a:solidFill>
                  <a:srgbClr val="080808"/>
                </a:solidFill>
                <a:latin typeface="Arial MT"/>
                <a:cs typeface="Arial MT"/>
              </a:rPr>
              <a:t>a</a:t>
            </a:r>
            <a:r>
              <a:rPr dirty="0" sz="2950" spc="-8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950" spc="-45">
                <a:solidFill>
                  <a:srgbClr val="080808"/>
                </a:solidFill>
                <a:latin typeface="Arial MT"/>
                <a:cs typeface="Arial MT"/>
              </a:rPr>
              <a:t>estratégia</a:t>
            </a:r>
            <a:r>
              <a:rPr dirty="0" sz="2950" spc="-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050505"/>
                </a:solidFill>
                <a:latin typeface="Arial MT"/>
                <a:cs typeface="Arial MT"/>
              </a:rPr>
              <a:t>com</a:t>
            </a:r>
            <a:r>
              <a:rPr dirty="0" sz="2950" spc="-6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950" spc="-280">
                <a:solidFill>
                  <a:srgbClr val="0E0E0E"/>
                </a:solidFill>
                <a:latin typeface="Arial MT"/>
                <a:cs typeface="Arial MT"/>
              </a:rPr>
              <a:t>a</a:t>
            </a:r>
            <a:r>
              <a:rPr dirty="0" sz="2950" spc="-9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0F0F0F"/>
                </a:solidFill>
                <a:latin typeface="Arial MT"/>
                <a:cs typeface="Arial MT"/>
              </a:rPr>
              <a:t>cultura</a:t>
            </a:r>
            <a:r>
              <a:rPr dirty="0" sz="2950" spc="-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151515"/>
                </a:solidFill>
                <a:latin typeface="Arial MT"/>
                <a:cs typeface="Arial MT"/>
              </a:rPr>
              <a:t>e</a:t>
            </a:r>
            <a:r>
              <a:rPr dirty="0" sz="2950" spc="-16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950" spc="-330">
                <a:solidFill>
                  <a:srgbClr val="0F0F0F"/>
                </a:solidFill>
                <a:latin typeface="Arial MT"/>
                <a:cs typeface="Arial MT"/>
              </a:rPr>
              <a:t>a </a:t>
            </a:r>
            <a:r>
              <a:rPr dirty="0" sz="2950" spc="-25">
                <a:latin typeface="Arial MT"/>
                <a:cs typeface="Arial MT"/>
              </a:rPr>
              <a:t>gestáo</a:t>
            </a:r>
            <a:r>
              <a:rPr dirty="0" sz="2950" spc="-185"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0C0C0C"/>
                </a:solidFill>
                <a:latin typeface="Arial MT"/>
                <a:cs typeface="Arial MT"/>
              </a:rPr>
              <a:t>da</a:t>
            </a:r>
            <a:r>
              <a:rPr dirty="0" sz="2950" spc="-18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organização.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200" y="3263900"/>
            <a:ext cx="1485900" cy="5461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1000" y="3302000"/>
            <a:ext cx="1803400" cy="5422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44400" y="3302000"/>
            <a:ext cx="1816100" cy="5422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1213" y="442030"/>
            <a:ext cx="248729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>
                <a:solidFill>
                  <a:srgbClr val="383838"/>
                </a:solidFill>
                <a:latin typeface="Courier New"/>
                <a:cs typeface="Courier New"/>
              </a:rPr>
              <a:t>02</a:t>
            </a:r>
            <a:r>
              <a:rPr dirty="0" sz="2550" spc="-360">
                <a:solidFill>
                  <a:srgbClr val="383838"/>
                </a:solidFill>
                <a:latin typeface="Courier New"/>
                <a:cs typeface="Courier New"/>
              </a:rPr>
              <a:t> </a:t>
            </a:r>
            <a:r>
              <a:rPr dirty="0" sz="2550" spc="135">
                <a:solidFill>
                  <a:srgbClr val="383838"/>
                </a:solidFill>
                <a:latin typeface="Courier New"/>
                <a:cs typeface="Courier New"/>
              </a:rPr>
              <a:t>QUEMSOMOS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28860" y="603086"/>
            <a:ext cx="11108690" cy="2016125"/>
          </a:xfrm>
          <a:prstGeom prst="rect"/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6600" spc="-25">
                <a:solidFill>
                  <a:srgbClr val="052B16"/>
                </a:solidFill>
              </a:rPr>
              <a:t>Três</a:t>
            </a:r>
            <a:r>
              <a:rPr dirty="0" sz="6600" spc="-340">
                <a:solidFill>
                  <a:srgbClr val="052B16"/>
                </a:solidFill>
              </a:rPr>
              <a:t> </a:t>
            </a:r>
            <a:r>
              <a:rPr dirty="0" sz="6600" spc="-25">
                <a:solidFill>
                  <a:srgbClr val="05210F"/>
                </a:solidFill>
              </a:rPr>
              <a:t>percursos,</a:t>
            </a:r>
            <a:r>
              <a:rPr dirty="0" sz="6600" spc="-315">
                <a:solidFill>
                  <a:srgbClr val="05210F"/>
                </a:solidFill>
              </a:rPr>
              <a:t> </a:t>
            </a:r>
            <a:r>
              <a:rPr dirty="0" sz="6600" spc="210">
                <a:solidFill>
                  <a:srgbClr val="032813"/>
                </a:solidFill>
              </a:rPr>
              <a:t>um</a:t>
            </a:r>
            <a:r>
              <a:rPr dirty="0" sz="6600" spc="-380">
                <a:solidFill>
                  <a:srgbClr val="032813"/>
                </a:solidFill>
              </a:rPr>
              <a:t> </a:t>
            </a:r>
            <a:r>
              <a:rPr dirty="0" sz="6600" spc="-10">
                <a:solidFill>
                  <a:srgbClr val="0C3D1F"/>
                </a:solidFill>
              </a:rPr>
              <a:t>trio</a:t>
            </a:r>
            <a:r>
              <a:rPr dirty="0" sz="6600" spc="-350">
                <a:solidFill>
                  <a:srgbClr val="0C3D1F"/>
                </a:solidFill>
              </a:rPr>
              <a:t> </a:t>
            </a:r>
            <a:r>
              <a:rPr dirty="0" sz="6600" spc="-10">
                <a:solidFill>
                  <a:srgbClr val="053B1F"/>
                </a:solidFill>
              </a:rPr>
              <a:t>alinhado.</a:t>
            </a:r>
            <a:endParaRPr sz="6600"/>
          </a:p>
          <a:p>
            <a:pPr marL="15240" marR="800100" indent="-1270">
              <a:lnSpc>
                <a:spcPts val="2900"/>
              </a:lnSpc>
              <a:spcBef>
                <a:spcPts val="960"/>
              </a:spcBef>
            </a:pPr>
            <a:r>
              <a:rPr dirty="0" sz="2850" spc="-20">
                <a:solidFill>
                  <a:srgbClr val="000000"/>
                </a:solidFill>
              </a:rPr>
              <a:t>Carreira</a:t>
            </a:r>
            <a:r>
              <a:rPr dirty="0" sz="2850" spc="85">
                <a:solidFill>
                  <a:srgbClr val="000000"/>
                </a:solidFill>
              </a:rPr>
              <a:t> </a:t>
            </a:r>
            <a:r>
              <a:rPr dirty="0" sz="2850">
                <a:solidFill>
                  <a:srgbClr val="000000"/>
                </a:solidFill>
              </a:rPr>
              <a:t>executiva</a:t>
            </a:r>
            <a:r>
              <a:rPr dirty="0" sz="2850" spc="110">
                <a:solidFill>
                  <a:srgbClr val="000000"/>
                </a:solidFill>
              </a:rPr>
              <a:t> </a:t>
            </a:r>
            <a:r>
              <a:rPr dirty="0" sz="2850">
                <a:solidFill>
                  <a:srgbClr val="000000"/>
                </a:solidFill>
              </a:rPr>
              <a:t>moldada</a:t>
            </a:r>
            <a:r>
              <a:rPr dirty="0" sz="2850" spc="55">
                <a:solidFill>
                  <a:srgbClr val="000000"/>
                </a:solidFill>
              </a:rPr>
              <a:t> </a:t>
            </a:r>
            <a:r>
              <a:rPr dirty="0" sz="2850">
                <a:solidFill>
                  <a:srgbClr val="050505"/>
                </a:solidFill>
              </a:rPr>
              <a:t>nas</a:t>
            </a:r>
            <a:r>
              <a:rPr dirty="0" sz="2850" spc="-55">
                <a:solidFill>
                  <a:srgbClr val="050505"/>
                </a:solidFill>
              </a:rPr>
              <a:t> </a:t>
            </a:r>
            <a:r>
              <a:rPr dirty="0" sz="2850">
                <a:solidFill>
                  <a:srgbClr val="000000"/>
                </a:solidFill>
              </a:rPr>
              <a:t>organizaçoes </a:t>
            </a:r>
            <a:r>
              <a:rPr dirty="0" sz="2850" spc="50">
                <a:solidFill>
                  <a:srgbClr val="0A0A0A"/>
                </a:solidFill>
              </a:rPr>
              <a:t>mais</a:t>
            </a:r>
            <a:r>
              <a:rPr dirty="0" sz="2850" spc="-120">
                <a:solidFill>
                  <a:srgbClr val="0A0A0A"/>
                </a:solidFill>
              </a:rPr>
              <a:t> </a:t>
            </a:r>
            <a:r>
              <a:rPr dirty="0" sz="2850">
                <a:solidFill>
                  <a:srgbClr val="000000"/>
                </a:solidFill>
              </a:rPr>
              <a:t>complexas</a:t>
            </a:r>
            <a:r>
              <a:rPr dirty="0" sz="2850" spc="135">
                <a:solidFill>
                  <a:srgbClr val="000000"/>
                </a:solidFill>
              </a:rPr>
              <a:t> </a:t>
            </a:r>
            <a:r>
              <a:rPr dirty="0" sz="2850">
                <a:solidFill>
                  <a:srgbClr val="111111"/>
                </a:solidFill>
              </a:rPr>
              <a:t>do</a:t>
            </a:r>
            <a:r>
              <a:rPr dirty="0" sz="2850" spc="-60">
                <a:solidFill>
                  <a:srgbClr val="111111"/>
                </a:solidFill>
              </a:rPr>
              <a:t> </a:t>
            </a:r>
            <a:r>
              <a:rPr dirty="0" sz="2850" spc="-10">
                <a:solidFill>
                  <a:srgbClr val="080808"/>
                </a:solidFill>
              </a:rPr>
              <a:t>país, </a:t>
            </a:r>
            <a:r>
              <a:rPr dirty="0" sz="2850">
                <a:solidFill>
                  <a:srgbClr val="000000"/>
                </a:solidFill>
              </a:rPr>
              <a:t>combinando</a:t>
            </a:r>
            <a:r>
              <a:rPr dirty="0" sz="2850" spc="220">
                <a:solidFill>
                  <a:srgbClr val="000000"/>
                </a:solidFill>
              </a:rPr>
              <a:t> </a:t>
            </a:r>
            <a:r>
              <a:rPr dirty="0" sz="2850">
                <a:solidFill>
                  <a:srgbClr val="000000"/>
                </a:solidFill>
              </a:rPr>
              <a:t>visão</a:t>
            </a:r>
            <a:r>
              <a:rPr dirty="0" sz="2850" spc="-65">
                <a:solidFill>
                  <a:srgbClr val="000000"/>
                </a:solidFill>
              </a:rPr>
              <a:t> </a:t>
            </a:r>
            <a:r>
              <a:rPr dirty="0" sz="2850">
                <a:solidFill>
                  <a:srgbClr val="000000"/>
                </a:solidFill>
              </a:rPr>
              <a:t>sistêmica</a:t>
            </a:r>
            <a:r>
              <a:rPr dirty="0" sz="2850" spc="90">
                <a:solidFill>
                  <a:srgbClr val="000000"/>
                </a:solidFill>
              </a:rPr>
              <a:t> </a:t>
            </a:r>
            <a:r>
              <a:rPr dirty="0" sz="2850">
                <a:solidFill>
                  <a:srgbClr val="000000"/>
                </a:solidFill>
              </a:rPr>
              <a:t>e</a:t>
            </a:r>
            <a:r>
              <a:rPr dirty="0" sz="2850" spc="-75">
                <a:solidFill>
                  <a:srgbClr val="000000"/>
                </a:solidFill>
              </a:rPr>
              <a:t> </a:t>
            </a:r>
            <a:r>
              <a:rPr dirty="0" sz="2850" spc="-10">
                <a:solidFill>
                  <a:srgbClr val="000000"/>
                </a:solidFill>
              </a:rPr>
              <a:t>pragmatismo.</a:t>
            </a:r>
            <a:endParaRPr sz="2850"/>
          </a:p>
        </p:txBody>
      </p:sp>
      <p:sp>
        <p:nvSpPr>
          <p:cNvPr id="7" name="object 7"/>
          <p:cNvSpPr txBox="1"/>
          <p:nvPr/>
        </p:nvSpPr>
        <p:spPr>
          <a:xfrm>
            <a:off x="1583505" y="3222272"/>
            <a:ext cx="3053080" cy="1822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765">
              <a:lnSpc>
                <a:spcPts val="3125"/>
              </a:lnSpc>
              <a:spcBef>
                <a:spcPts val="125"/>
              </a:spcBef>
            </a:pPr>
            <a:r>
              <a:rPr dirty="0" sz="2750" spc="405">
                <a:solidFill>
                  <a:srgbClr val="161616"/>
                </a:solidFill>
                <a:latin typeface="Calibri"/>
                <a:cs typeface="Calibri"/>
              </a:rPr>
              <a:t>ELISANGELA</a:t>
            </a:r>
            <a:endParaRPr sz="2750">
              <a:latin typeface="Calibri"/>
              <a:cs typeface="Calibri"/>
            </a:endParaRPr>
          </a:p>
          <a:p>
            <a:pPr marL="24130">
              <a:lnSpc>
                <a:spcPts val="3304"/>
              </a:lnSpc>
            </a:pPr>
            <a:r>
              <a:rPr dirty="0" sz="2900" spc="310">
                <a:solidFill>
                  <a:srgbClr val="0F0F0F"/>
                </a:solidFill>
                <a:latin typeface="Calibri"/>
                <a:cs typeface="Calibri"/>
              </a:rPr>
              <a:t>CHITERO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ts val="2585"/>
              </a:lnSpc>
              <a:spcBef>
                <a:spcPts val="370"/>
              </a:spcBef>
            </a:pPr>
            <a:r>
              <a:rPr dirty="0" sz="2350" spc="-45">
                <a:solidFill>
                  <a:srgbClr val="181818"/>
                </a:solidFill>
                <a:latin typeface="Calibri"/>
                <a:cs typeface="Calibri"/>
              </a:rPr>
              <a:t>25</a:t>
            </a:r>
            <a:r>
              <a:rPr dirty="0" sz="2350" spc="-13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350" spc="-20">
                <a:latin typeface="Calibri"/>
                <a:cs typeface="Calibri"/>
              </a:rPr>
              <a:t>anos</a:t>
            </a:r>
            <a:r>
              <a:rPr dirty="0" sz="2350" spc="-105">
                <a:latin typeface="Calibri"/>
                <a:cs typeface="Calibri"/>
              </a:rPr>
              <a:t> </a:t>
            </a:r>
            <a:r>
              <a:rPr dirty="0" sz="2350">
                <a:solidFill>
                  <a:srgbClr val="1A1A1A"/>
                </a:solidFill>
                <a:latin typeface="Calibri"/>
                <a:cs typeface="Calibri"/>
              </a:rPr>
              <a:t>em</a:t>
            </a:r>
            <a:r>
              <a:rPr dirty="0" sz="2350" spc="-8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350" spc="-25">
                <a:latin typeface="Calibri"/>
                <a:cs typeface="Calibri"/>
              </a:rPr>
              <a:t>RH.</a:t>
            </a:r>
            <a:endParaRPr sz="2350">
              <a:latin typeface="Calibri"/>
              <a:cs typeface="Calibri"/>
            </a:endParaRPr>
          </a:p>
          <a:p>
            <a:pPr marL="30480">
              <a:lnSpc>
                <a:spcPts val="2160"/>
              </a:lnSpc>
            </a:pPr>
            <a:r>
              <a:rPr dirty="0" sz="2200">
                <a:solidFill>
                  <a:srgbClr val="080808"/>
                </a:solidFill>
                <a:latin typeface="Calibri"/>
                <a:cs typeface="Calibri"/>
              </a:rPr>
              <a:t>Foco</a:t>
            </a:r>
            <a:r>
              <a:rPr dirty="0" sz="2200" spc="5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151515"/>
                </a:solidFill>
                <a:latin typeface="Calibri"/>
                <a:cs typeface="Calibri"/>
              </a:rPr>
              <a:t>ero</a:t>
            </a:r>
            <a:r>
              <a:rPr dirty="0" sz="2200" spc="1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transformação</a:t>
            </a:r>
            <a:r>
              <a:rPr dirty="0" sz="2200" spc="290">
                <a:latin typeface="Calibri"/>
                <a:cs typeface="Calibri"/>
              </a:rPr>
              <a:t> </a:t>
            </a:r>
            <a:r>
              <a:rPr dirty="0" sz="2200" spc="45">
                <a:solidFill>
                  <a:srgbClr val="758270"/>
                </a:solidFill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  <a:p>
            <a:pPr marL="19685">
              <a:lnSpc>
                <a:spcPts val="2575"/>
              </a:lnSpc>
            </a:pPr>
            <a:r>
              <a:rPr dirty="0" sz="2350" spc="-55">
                <a:latin typeface="Calibri"/>
                <a:cs typeface="Calibri"/>
              </a:rPr>
              <a:t>reestruturação</a:t>
            </a:r>
            <a:r>
              <a:rPr dirty="0" sz="2350">
                <a:latin typeface="Calibri"/>
                <a:cs typeface="Calibri"/>
              </a:rPr>
              <a:t> </a:t>
            </a:r>
            <a:r>
              <a:rPr dirty="0" sz="2350" spc="-114">
                <a:solidFill>
                  <a:srgbClr val="030303"/>
                </a:solidFill>
                <a:latin typeface="Calibri"/>
                <a:cs typeface="Calibri"/>
              </a:rPr>
              <a:t>pós-</a:t>
            </a:r>
            <a:r>
              <a:rPr dirty="0" sz="2350" spc="-20">
                <a:solidFill>
                  <a:srgbClr val="030303"/>
                </a:solidFill>
                <a:latin typeface="Calibri"/>
                <a:cs typeface="Calibri"/>
              </a:rPr>
              <a:t>M&amp;A.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0735" y="5676900"/>
            <a:ext cx="29114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solidFill>
                  <a:srgbClr val="070707"/>
                </a:solidFill>
                <a:latin typeface="Calibri"/>
                <a:cs typeface="Calibri"/>
              </a:rPr>
              <a:t>Hospital</a:t>
            </a:r>
            <a:r>
              <a:rPr dirty="0" sz="2500" spc="-25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dirty="0" sz="2500" spc="-80">
                <a:solidFill>
                  <a:srgbClr val="050505"/>
                </a:solidFill>
                <a:latin typeface="Calibri"/>
                <a:cs typeface="Calibri"/>
              </a:rPr>
              <a:t>Albert</a:t>
            </a:r>
            <a:r>
              <a:rPr dirty="0" sz="2500" spc="-6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2500" spc="-20">
                <a:solidFill>
                  <a:srgbClr val="0C0C0C"/>
                </a:solidFill>
                <a:latin typeface="Calibri"/>
                <a:cs typeface="Calibri"/>
              </a:rPr>
              <a:t>Einstein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91875" y="6669969"/>
            <a:ext cx="85915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30">
                <a:latin typeface="Calibri"/>
                <a:cs typeface="Calibri"/>
              </a:rPr>
              <a:t>Natura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1382" y="7647869"/>
            <a:ext cx="146113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latin typeface="Calibri"/>
                <a:cs typeface="Calibri"/>
              </a:rPr>
              <a:t>Grupo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070707"/>
                </a:solidFill>
                <a:latin typeface="Calibri"/>
                <a:cs typeface="Calibri"/>
              </a:rPr>
              <a:t>Ultra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6236" y="8886825"/>
            <a:ext cx="460756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70">
                <a:solidFill>
                  <a:srgbClr val="1F1F1F"/>
                </a:solidFill>
                <a:latin typeface="Calibri"/>
                <a:cs typeface="Calibri"/>
              </a:rPr>
              <a:t>(Professora</a:t>
            </a:r>
            <a:r>
              <a:rPr dirty="0" sz="1850" spc="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850" spc="-40">
                <a:solidFill>
                  <a:srgbClr val="0F0F0F"/>
                </a:solidFill>
                <a:latin typeface="Calibri"/>
                <a:cs typeface="Calibri"/>
              </a:rPr>
              <a:t>convidada</a:t>
            </a:r>
            <a:r>
              <a:rPr dirty="0" sz="1850" spc="6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850" spc="-40">
                <a:solidFill>
                  <a:srgbClr val="181818"/>
                </a:solidFill>
                <a:latin typeface="Calibri"/>
                <a:cs typeface="Calibri"/>
              </a:rPr>
              <a:t>Einstein</a:t>
            </a:r>
            <a:r>
              <a:rPr dirty="0" sz="1850" spc="-6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850" spc="-130">
                <a:solidFill>
                  <a:srgbClr val="3F3F3F"/>
                </a:solidFill>
                <a:latin typeface="Calibri"/>
                <a:cs typeface="Calibri"/>
              </a:rPr>
              <a:t>/</a:t>
            </a:r>
            <a:r>
              <a:rPr dirty="0" sz="1850" spc="-7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850" spc="-45">
                <a:solidFill>
                  <a:srgbClr val="242424"/>
                </a:solidFill>
                <a:latin typeface="Calibri"/>
                <a:cs typeface="Calibri"/>
              </a:rPr>
              <a:t>Formação</a:t>
            </a:r>
            <a:r>
              <a:rPr dirty="0" sz="1850" spc="6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850" spc="-60">
                <a:solidFill>
                  <a:srgbClr val="1D1D1D"/>
                </a:solidFill>
                <a:latin typeface="Calibri"/>
                <a:cs typeface="Calibri"/>
              </a:rPr>
              <a:t>Barrett)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98703" y="4087988"/>
            <a:ext cx="3161665" cy="956944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just" marL="13970" marR="5080" indent="-1905">
              <a:lnSpc>
                <a:spcPct val="82400"/>
              </a:lnSpc>
              <a:spcBef>
                <a:spcPts val="605"/>
              </a:spcBef>
            </a:pPr>
            <a:r>
              <a:rPr dirty="0" sz="2350" spc="-65">
                <a:latin typeface="Calibri"/>
                <a:cs typeface="Calibri"/>
              </a:rPr>
              <a:t>Trajetória</a:t>
            </a:r>
            <a:r>
              <a:rPr dirty="0" sz="2350" spc="-40">
                <a:latin typeface="Calibri"/>
                <a:cs typeface="Calibri"/>
              </a:rPr>
              <a:t> </a:t>
            </a:r>
            <a:r>
              <a:rPr dirty="0" sz="2350" spc="-75">
                <a:solidFill>
                  <a:srgbClr val="0C0C0C"/>
                </a:solidFill>
                <a:latin typeface="Calibri"/>
                <a:cs typeface="Calibri"/>
              </a:rPr>
              <a:t>ao</a:t>
            </a:r>
            <a:r>
              <a:rPr dirty="0" sz="2350" spc="-6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350" spc="-50">
                <a:solidFill>
                  <a:srgbClr val="181818"/>
                </a:solidFill>
                <a:latin typeface="Calibri"/>
                <a:cs typeface="Calibri"/>
              </a:rPr>
              <a:t>Iado</a:t>
            </a:r>
            <a:r>
              <a:rPr dirty="0" sz="2350" spc="-7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350" spc="-20">
                <a:solidFill>
                  <a:srgbClr val="111111"/>
                </a:solidFill>
                <a:latin typeface="Calibri"/>
                <a:cs typeface="Calibri"/>
              </a:rPr>
              <a:t>de</a:t>
            </a:r>
            <a:r>
              <a:rPr dirty="0" sz="2350" spc="-114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CEOs. </a:t>
            </a:r>
            <a:r>
              <a:rPr dirty="0" sz="2200" spc="60">
                <a:latin typeface="Calibri"/>
                <a:cs typeface="Calibri"/>
              </a:rPr>
              <a:t>Foco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65">
                <a:solidFill>
                  <a:srgbClr val="151515"/>
                </a:solidFill>
                <a:latin typeface="Calibri"/>
                <a:cs typeface="Calibri"/>
              </a:rPr>
              <a:t>em</a:t>
            </a:r>
            <a:r>
              <a:rPr dirty="0" sz="2200" spc="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50505"/>
                </a:solidFill>
                <a:latin typeface="Calibri"/>
                <a:cs typeface="Calibri"/>
              </a:rPr>
              <a:t>alta</a:t>
            </a:r>
            <a:r>
              <a:rPr dirty="0" sz="2200" spc="45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 </a:t>
            </a:r>
            <a:r>
              <a:rPr dirty="0" sz="2350">
                <a:solidFill>
                  <a:srgbClr val="0A0A0A"/>
                </a:solidFill>
                <a:latin typeface="Calibri"/>
                <a:cs typeface="Calibri"/>
              </a:rPr>
              <a:t>e</a:t>
            </a:r>
            <a:r>
              <a:rPr dirty="0" sz="2350" spc="-14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2350" spc="-30">
                <a:latin typeface="Calibri"/>
                <a:cs typeface="Calibri"/>
              </a:rPr>
              <a:t>governança</a:t>
            </a:r>
            <a:r>
              <a:rPr dirty="0" sz="2350" spc="20">
                <a:latin typeface="Calibri"/>
                <a:cs typeface="Calibri"/>
              </a:rPr>
              <a:t> </a:t>
            </a:r>
            <a:r>
              <a:rPr dirty="0" sz="2350" spc="-20">
                <a:solidFill>
                  <a:srgbClr val="0A0A0A"/>
                </a:solidFill>
                <a:latin typeface="Calibri"/>
                <a:cs typeface="Calibri"/>
              </a:rPr>
              <a:t>estruturada.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3093" y="5674430"/>
            <a:ext cx="1231900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50">
                <a:latin typeface="Calibri"/>
                <a:cs typeface="Calibri"/>
              </a:rPr>
              <a:t>Banco</a:t>
            </a:r>
            <a:r>
              <a:rPr dirty="0" sz="2550" spc="-70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BV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05062" y="6661150"/>
            <a:ext cx="120396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60">
                <a:solidFill>
                  <a:srgbClr val="050505"/>
                </a:solidFill>
                <a:latin typeface="Calibri"/>
                <a:cs typeface="Calibri"/>
              </a:rPr>
              <a:t>Credicard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54475" y="7647869"/>
            <a:ext cx="288099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0">
                <a:solidFill>
                  <a:srgbClr val="0A0A0A"/>
                </a:solidFill>
                <a:latin typeface="Calibri"/>
                <a:cs typeface="Calibri"/>
              </a:rPr>
              <a:t>Natura</a:t>
            </a:r>
            <a:r>
              <a:rPr dirty="0" sz="2400" spc="-6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31313"/>
                </a:solidFill>
                <a:latin typeface="Calibri"/>
                <a:cs typeface="Calibri"/>
              </a:rPr>
              <a:t>(RH</a:t>
            </a:r>
            <a:r>
              <a:rPr dirty="0" sz="2400" spc="-13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Natura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Pay)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47436" y="8886825"/>
            <a:ext cx="156908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35">
                <a:solidFill>
                  <a:srgbClr val="0C0C0C"/>
                </a:solidFill>
                <a:latin typeface="Calibri"/>
                <a:cs typeface="Calibri"/>
              </a:rPr>
              <a:t>(Formação</a:t>
            </a:r>
            <a:r>
              <a:rPr dirty="0" sz="1850" spc="-4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181818"/>
                </a:solidFill>
                <a:latin typeface="Calibri"/>
                <a:cs typeface="Calibri"/>
              </a:rPr>
              <a:t>IBGC)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02552" y="3222272"/>
            <a:ext cx="3218180" cy="21005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9685">
              <a:lnSpc>
                <a:spcPts val="3125"/>
              </a:lnSpc>
              <a:spcBef>
                <a:spcPts val="125"/>
              </a:spcBef>
            </a:pPr>
            <a:r>
              <a:rPr dirty="0" sz="2750" spc="420">
                <a:solidFill>
                  <a:srgbClr val="111111"/>
                </a:solidFill>
                <a:latin typeface="Calibri"/>
                <a:cs typeface="Calibri"/>
              </a:rPr>
              <a:t>LEILA</a:t>
            </a:r>
            <a:endParaRPr sz="2750">
              <a:latin typeface="Calibri"/>
              <a:cs typeface="Calibri"/>
            </a:endParaRPr>
          </a:p>
          <a:p>
            <a:pPr marL="18415">
              <a:lnSpc>
                <a:spcPts val="3304"/>
              </a:lnSpc>
            </a:pPr>
            <a:r>
              <a:rPr dirty="0" sz="2900" spc="375">
                <a:solidFill>
                  <a:srgbClr val="111111"/>
                </a:solidFill>
                <a:latin typeface="Calibri"/>
                <a:cs typeface="Calibri"/>
              </a:rPr>
              <a:t>KIDO</a:t>
            </a:r>
            <a:endParaRPr sz="2900">
              <a:latin typeface="Calibri"/>
              <a:cs typeface="Calibri"/>
            </a:endParaRPr>
          </a:p>
          <a:p>
            <a:pPr marL="27940" marR="5080" indent="-15875">
              <a:lnSpc>
                <a:spcPct val="84000"/>
              </a:lnSpc>
              <a:spcBef>
                <a:spcPts val="865"/>
              </a:spcBef>
            </a:pPr>
            <a:r>
              <a:rPr dirty="0" sz="2300" spc="-345">
                <a:solidFill>
                  <a:srgbClr val="232323"/>
                </a:solidFill>
                <a:latin typeface="Calibri"/>
                <a:cs typeface="Calibri"/>
              </a:rPr>
              <a:t>DO</a:t>
            </a:r>
            <a:r>
              <a:rPr dirty="0" sz="2300" spc="8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70707"/>
                </a:solidFill>
                <a:latin typeface="Calibri"/>
                <a:cs typeface="Calibri"/>
              </a:rPr>
              <a:t>anos</a:t>
            </a:r>
            <a:r>
              <a:rPr dirty="0" sz="2300" spc="-5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50505"/>
                </a:solidFill>
                <a:latin typeface="Calibri"/>
                <a:cs typeface="Calibri"/>
              </a:rPr>
              <a:t>em</a:t>
            </a:r>
            <a:r>
              <a:rPr dirty="0" sz="2300" spc="-25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080808"/>
                </a:solidFill>
                <a:latin typeface="Calibri"/>
                <a:cs typeface="Calibri"/>
              </a:rPr>
              <a:t>liderança </a:t>
            </a:r>
            <a:r>
              <a:rPr dirty="0" sz="2150" spc="10">
                <a:latin typeface="Calibri"/>
                <a:cs typeface="Calibri"/>
              </a:rPr>
              <a:t>regional/global.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75">
                <a:solidFill>
                  <a:srgbClr val="111111"/>
                </a:solidFill>
                <a:latin typeface="Calibri"/>
                <a:cs typeface="Calibri"/>
              </a:rPr>
              <a:t>Foco</a:t>
            </a:r>
            <a:r>
              <a:rPr dirty="0" sz="2150" spc="1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150" spc="80">
                <a:solidFill>
                  <a:srgbClr val="151515"/>
                </a:solidFill>
                <a:latin typeface="Calibri"/>
                <a:cs typeface="Calibri"/>
              </a:rPr>
              <a:t>em </a:t>
            </a:r>
            <a:r>
              <a:rPr dirty="0" sz="2200">
                <a:solidFill>
                  <a:srgbClr val="050505"/>
                </a:solidFill>
                <a:latin typeface="Calibri"/>
                <a:cs typeface="Calibri"/>
              </a:rPr>
              <a:t>integraçao</a:t>
            </a:r>
            <a:r>
              <a:rPr dirty="0" sz="2200" spc="24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2200" spc="95">
                <a:solidFill>
                  <a:srgbClr val="080808"/>
                </a:solidFill>
                <a:latin typeface="Calibri"/>
                <a:cs typeface="Calibri"/>
              </a:rPr>
              <a:t>e</a:t>
            </a:r>
            <a:r>
              <a:rPr dirty="0" sz="2200" spc="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qualidade</a:t>
            </a:r>
            <a:r>
              <a:rPr dirty="0" sz="2200" spc="285">
                <a:latin typeface="Calibri"/>
                <a:cs typeface="Calibri"/>
              </a:rPr>
              <a:t> </a:t>
            </a:r>
            <a:r>
              <a:rPr dirty="0" sz="2200" spc="60">
                <a:solidFill>
                  <a:srgbClr val="242424"/>
                </a:solidFill>
                <a:latin typeface="Calibri"/>
                <a:cs typeface="Calibri"/>
              </a:rPr>
              <a:t>das </a:t>
            </a:r>
            <a:r>
              <a:rPr dirty="0" sz="2300" spc="-10">
                <a:solidFill>
                  <a:srgbClr val="030303"/>
                </a:solidFill>
                <a:latin typeface="Calibri"/>
                <a:cs typeface="Calibri"/>
              </a:rPr>
              <a:t>relações.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38630" y="6661150"/>
            <a:ext cx="15347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latin typeface="Calibri"/>
                <a:cs typeface="Calibri"/>
              </a:rPr>
              <a:t>BankBoston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32979" y="7647869"/>
            <a:ext cx="868044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20">
                <a:latin typeface="Calibri"/>
                <a:cs typeface="Calibri"/>
              </a:rPr>
              <a:t>Natura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447115" y="8895644"/>
            <a:ext cx="189357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40">
                <a:solidFill>
                  <a:srgbClr val="111111"/>
                </a:solidFill>
                <a:latin typeface="Calibri"/>
                <a:cs typeface="Calibri"/>
              </a:rPr>
              <a:t>(Professora</a:t>
            </a:r>
            <a:r>
              <a:rPr dirty="0" sz="1800" spc="3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E0E0E"/>
                </a:solidFill>
                <a:latin typeface="Calibri"/>
                <a:cs typeface="Calibri"/>
              </a:rPr>
              <a:t>FIA-</a:t>
            </a:r>
            <a:r>
              <a:rPr dirty="0" sz="1800" spc="-20">
                <a:solidFill>
                  <a:srgbClr val="0E0E0E"/>
                </a:solidFill>
                <a:latin typeface="Calibri"/>
                <a:cs typeface="Calibri"/>
              </a:rPr>
              <a:t>USP)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301707" y="9467497"/>
            <a:ext cx="103124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0">
                <a:solidFill>
                  <a:srgbClr val="161616"/>
                </a:solidFill>
                <a:latin typeface="Calibri"/>
                <a:cs typeface="Calibri"/>
              </a:rPr>
              <a:t>Gemini</a:t>
            </a:r>
            <a:r>
              <a:rPr dirty="0" sz="900" spc="-2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900" spc="80">
                <a:solidFill>
                  <a:srgbClr val="2F2F2F"/>
                </a:solidFill>
                <a:latin typeface="Calibri"/>
                <a:cs typeface="Calibri"/>
              </a:rPr>
              <a:t>Note</a:t>
            </a:r>
            <a:r>
              <a:rPr dirty="0" sz="900" spc="24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F2F2F"/>
                </a:solidFill>
                <a:latin typeface="Calibri"/>
                <a:cs typeface="Calibri"/>
              </a:rPr>
              <a:t>•ook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4076700"/>
            <a:ext cx="17462500" cy="6223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438400" y="2641600"/>
            <a:ext cx="12611100" cy="1041400"/>
          </a:xfrm>
          <a:custGeom>
            <a:avLst/>
            <a:gdLst/>
            <a:ahLst/>
            <a:cxnLst/>
            <a:rect l="l" t="t" r="r" b="b"/>
            <a:pathLst>
              <a:path w="12611100" h="1041400">
                <a:moveTo>
                  <a:pt x="12611100" y="1041400"/>
                </a:moveTo>
                <a:lnTo>
                  <a:pt x="0" y="1041400"/>
                </a:lnTo>
                <a:lnTo>
                  <a:pt x="0" y="0"/>
                </a:lnTo>
                <a:lnTo>
                  <a:pt x="12611100" y="0"/>
                </a:lnTo>
                <a:lnTo>
                  <a:pt x="12611100" y="1041400"/>
                </a:lnTo>
                <a:close/>
              </a:path>
            </a:pathLst>
          </a:custGeom>
          <a:solidFill>
            <a:srgbClr val="1C4B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66660" y="2303991"/>
            <a:ext cx="12699365" cy="13906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950">
                <a:solidFill>
                  <a:srgbClr val="FFFFFF"/>
                </a:solidFill>
                <a:latin typeface="Arial MT"/>
                <a:cs typeface="Arial MT"/>
              </a:rPr>
              <a:t>Mover</a:t>
            </a:r>
            <a:r>
              <a:rPr dirty="0" sz="89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950">
                <a:solidFill>
                  <a:srgbClr val="FFFFFF"/>
                </a:solidFill>
                <a:latin typeface="Arial MT"/>
                <a:cs typeface="Arial MT"/>
              </a:rPr>
              <a:t>sistemas</a:t>
            </a:r>
            <a:r>
              <a:rPr dirty="0" sz="8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95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dirty="0" sz="8950" spc="-5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950" spc="-25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endParaRPr sz="89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49800" y="5029200"/>
            <a:ext cx="7937500" cy="1066800"/>
          </a:xfrm>
          <a:custGeom>
            <a:avLst/>
            <a:gdLst/>
            <a:ahLst/>
            <a:cxnLst/>
            <a:rect l="l" t="t" r="r" b="b"/>
            <a:pathLst>
              <a:path w="7937500" h="1066800">
                <a:moveTo>
                  <a:pt x="7937500" y="1066800"/>
                </a:moveTo>
                <a:lnTo>
                  <a:pt x="0" y="1066800"/>
                </a:lnTo>
                <a:lnTo>
                  <a:pt x="0" y="0"/>
                </a:lnTo>
                <a:lnTo>
                  <a:pt x="7937500" y="0"/>
                </a:lnTo>
                <a:lnTo>
                  <a:pt x="7937500" y="1066800"/>
                </a:lnTo>
                <a:close/>
              </a:path>
            </a:pathLst>
          </a:custGeom>
          <a:solidFill>
            <a:srgbClr val="184B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718057" y="4691591"/>
            <a:ext cx="8017509" cy="1390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950">
                <a:solidFill>
                  <a:srgbClr val="FFFFFF"/>
                </a:solidFill>
                <a:latin typeface="Arial MT"/>
                <a:cs typeface="Arial MT"/>
              </a:rPr>
              <a:t>cresçam</a:t>
            </a:r>
            <a:r>
              <a:rPr dirty="0" sz="8950" spc="-3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950" spc="55">
                <a:solidFill>
                  <a:srgbClr val="FFFFFF"/>
                </a:solidFill>
                <a:latin typeface="Arial MT"/>
                <a:cs typeface="Arial MT"/>
              </a:rPr>
              <a:t>juntas.</a:t>
            </a:r>
            <a:endParaRPr sz="89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700" y="6883400"/>
            <a:ext cx="17449800" cy="469900"/>
          </a:xfrm>
          <a:custGeom>
            <a:avLst/>
            <a:gdLst/>
            <a:ahLst/>
            <a:cxnLst/>
            <a:rect l="l" t="t" r="r" b="b"/>
            <a:pathLst>
              <a:path w="17449800" h="469900">
                <a:moveTo>
                  <a:pt x="17449800" y="469900"/>
                </a:moveTo>
                <a:lnTo>
                  <a:pt x="0" y="4699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69900"/>
                </a:lnTo>
                <a:close/>
              </a:path>
            </a:pathLst>
          </a:custGeom>
          <a:solidFill>
            <a:srgbClr val="1A4B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84141" y="6732410"/>
            <a:ext cx="10630535" cy="618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850" spc="-114" i="1">
                <a:solidFill>
                  <a:srgbClr val="FFFFFF"/>
                </a:solidFill>
                <a:latin typeface="Arial"/>
                <a:cs typeface="Arial"/>
              </a:rPr>
              <a:t>Com</a:t>
            </a:r>
            <a:r>
              <a:rPr dirty="0" sz="3850" spc="-16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850" spc="-165" i="1">
                <a:solidFill>
                  <a:srgbClr val="F9F9F9"/>
                </a:solidFill>
                <a:latin typeface="Arial"/>
                <a:cs typeface="Arial"/>
              </a:rPr>
              <a:t>proLundidade</a:t>
            </a:r>
            <a:r>
              <a:rPr dirty="0" sz="3850" spc="-10" i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3850" spc="-145" i="1">
                <a:solidFill>
                  <a:srgbClr val="FFFFFF"/>
                </a:solidFill>
                <a:latin typeface="Arial"/>
                <a:cs typeface="Arial"/>
              </a:rPr>
              <a:t>humana</a:t>
            </a:r>
            <a:r>
              <a:rPr dirty="0" sz="3850" spc="-12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850" i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3850" spc="-27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850" spc="-135" i="1">
                <a:solidFill>
                  <a:srgbClr val="FFFFFF"/>
                </a:solidFill>
                <a:latin typeface="Arial"/>
                <a:cs typeface="Arial"/>
              </a:rPr>
              <a:t>clarezo</a:t>
            </a:r>
            <a:r>
              <a:rPr dirty="0" sz="3850" spc="-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850" spc="-95" i="1">
                <a:solidFill>
                  <a:srgbClr val="F9F9F9"/>
                </a:solidFill>
                <a:latin typeface="Arial"/>
                <a:cs typeface="Arial"/>
              </a:rPr>
              <a:t>metodológica.</a:t>
            </a:r>
            <a:endParaRPr sz="38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00" y="9499600"/>
            <a:ext cx="17462500" cy="127000"/>
            <a:chOff x="12700" y="9499600"/>
            <a:chExt cx="17462500" cy="1270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00" y="9499600"/>
              <a:ext cx="17462500" cy="127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00" y="9499600"/>
              <a:ext cx="17462500" cy="127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0" y="1270000"/>
            <a:ext cx="7150100" cy="7162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52985" y="690386"/>
            <a:ext cx="2819400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55295" algn="l"/>
              </a:tabLst>
            </a:pPr>
            <a:r>
              <a:rPr dirty="0" sz="2000" spc="-40">
                <a:solidFill>
                  <a:srgbClr val="080808"/>
                </a:solidFill>
                <a:latin typeface="Arial MT"/>
                <a:cs typeface="Arial MT"/>
              </a:rPr>
              <a:t>0</a:t>
            </a:r>
            <a:r>
              <a:rPr dirty="0" sz="2000" spc="-745">
                <a:solidFill>
                  <a:srgbClr val="080808"/>
                </a:solidFill>
                <a:latin typeface="Arial MT"/>
                <a:cs typeface="Arial MT"/>
              </a:rPr>
              <a:t>3</a:t>
            </a:r>
            <a:r>
              <a:rPr dirty="0" sz="2000" spc="-30">
                <a:solidFill>
                  <a:srgbClr val="111111"/>
                </a:solidFill>
                <a:latin typeface="Arial MT"/>
                <a:cs typeface="Arial MT"/>
              </a:rPr>
              <a:t>-</a:t>
            </a:r>
            <a:r>
              <a:rPr dirty="0" sz="2000">
                <a:solidFill>
                  <a:srgbClr val="111111"/>
                </a:solidFill>
                <a:latin typeface="Arial MT"/>
                <a:cs typeface="Arial MT"/>
              </a:rPr>
              <a:t>	</a:t>
            </a:r>
            <a:r>
              <a:rPr dirty="0" sz="2000" spc="-270" b="1">
                <a:solidFill>
                  <a:srgbClr val="0F0F0F"/>
                </a:solidFill>
                <a:latin typeface="Arial"/>
                <a:cs typeface="Arial"/>
              </a:rPr>
              <a:t>COMO</a:t>
            </a:r>
            <a:r>
              <a:rPr dirty="0" sz="2000" spc="5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000" spc="-290" b="1">
                <a:solidFill>
                  <a:srgbClr val="0A0A0A"/>
                </a:solidFill>
                <a:latin typeface="Arial"/>
                <a:cs typeface="Arial"/>
              </a:rPr>
              <a:t>TRABALHAMOS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21820" y="927805"/>
            <a:ext cx="4292600" cy="18319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6995"/>
              </a:lnSpc>
              <a:spcBef>
                <a:spcPts val="95"/>
              </a:spcBef>
            </a:pPr>
            <a:r>
              <a:rPr dirty="0" sz="6950" spc="-595">
                <a:solidFill>
                  <a:srgbClr val="1C1C1C"/>
                </a:solidFill>
                <a:latin typeface="Arial MT"/>
                <a:cs typeface="Arial MT"/>
              </a:rPr>
              <a:t>Nosso</a:t>
            </a:r>
            <a:r>
              <a:rPr dirty="0" sz="6950" spc="-54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6950" spc="-590">
                <a:solidFill>
                  <a:srgbClr val="0F3F2A"/>
                </a:solidFill>
                <a:latin typeface="Arial MT"/>
                <a:cs typeface="Arial MT"/>
              </a:rPr>
              <a:t>Modo</a:t>
            </a:r>
            <a:endParaRPr sz="6950">
              <a:latin typeface="Arial MT"/>
              <a:cs typeface="Arial MT"/>
            </a:endParaRPr>
          </a:p>
          <a:p>
            <a:pPr marL="35560">
              <a:lnSpc>
                <a:spcPts val="7234"/>
              </a:lnSpc>
            </a:pPr>
            <a:r>
              <a:rPr dirty="0" sz="7150" spc="-520">
                <a:solidFill>
                  <a:srgbClr val="133F2A"/>
                </a:solidFill>
                <a:latin typeface="Arial MT"/>
                <a:cs typeface="Arial MT"/>
              </a:rPr>
              <a:t>de</a:t>
            </a:r>
            <a:r>
              <a:rPr dirty="0" sz="7150" spc="-655">
                <a:solidFill>
                  <a:srgbClr val="133F2A"/>
                </a:solidFill>
                <a:latin typeface="Arial MT"/>
                <a:cs typeface="Arial MT"/>
              </a:rPr>
              <a:t> </a:t>
            </a:r>
            <a:r>
              <a:rPr dirty="0" sz="7150" spc="-525">
                <a:solidFill>
                  <a:srgbClr val="1A1A1A"/>
                </a:solidFill>
                <a:latin typeface="Arial MT"/>
                <a:cs typeface="Arial MT"/>
              </a:rPr>
              <a:t>Atuar.</a:t>
            </a:r>
            <a:endParaRPr sz="71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5318" y="3964516"/>
            <a:ext cx="3404870" cy="2011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19835">
              <a:lnSpc>
                <a:spcPts val="3929"/>
              </a:lnSpc>
              <a:spcBef>
                <a:spcPts val="130"/>
              </a:spcBef>
            </a:pPr>
            <a:r>
              <a:rPr dirty="0" sz="3300" spc="-170" b="1">
                <a:solidFill>
                  <a:srgbClr val="0C0C0C"/>
                </a:solidFill>
                <a:latin typeface="Arial"/>
                <a:cs typeface="Arial"/>
              </a:rPr>
              <a:t>O4.</a:t>
            </a:r>
            <a:r>
              <a:rPr dirty="0" sz="3300" spc="-415" b="1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3300" spc="-10" b="1">
                <a:solidFill>
                  <a:srgbClr val="1A1A1A"/>
                </a:solidFill>
                <a:latin typeface="Arial"/>
                <a:cs typeface="Arial"/>
              </a:rPr>
              <a:t>ImpaZo</a:t>
            </a:r>
            <a:endParaRPr sz="3300">
              <a:latin typeface="Arial"/>
              <a:cs typeface="Arial"/>
            </a:endParaRPr>
          </a:p>
          <a:p>
            <a:pPr algn="r" marR="15240">
              <a:lnSpc>
                <a:spcPts val="2390"/>
              </a:lnSpc>
            </a:pPr>
            <a:r>
              <a:rPr dirty="0" sz="2200" spc="-180" i="1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dirty="0" sz="2200" spc="-8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80" i="1">
                <a:solidFill>
                  <a:srgbClr val="050505"/>
                </a:solidFill>
                <a:latin typeface="Arial"/>
                <a:cs typeface="Arial"/>
              </a:rPr>
              <a:t>que</a:t>
            </a:r>
            <a:r>
              <a:rPr dirty="0" sz="2200" spc="-8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200" spc="-20" i="1">
                <a:latin typeface="Arial"/>
                <a:cs typeface="Arial"/>
              </a:rPr>
              <a:t>fica</a:t>
            </a:r>
            <a:r>
              <a:rPr dirty="0" sz="2200" spc="-135" i="1">
                <a:latin typeface="Arial"/>
                <a:cs typeface="Arial"/>
              </a:rPr>
              <a:t> </a:t>
            </a:r>
            <a:r>
              <a:rPr dirty="0" sz="2200" spc="-50" i="1">
                <a:solidFill>
                  <a:srgbClr val="050505"/>
                </a:solidFill>
                <a:latin typeface="Arial"/>
                <a:cs typeface="Arial"/>
              </a:rPr>
              <a:t>depois</a:t>
            </a:r>
            <a:r>
              <a:rPr dirty="0" sz="2200" spc="-25" i="1">
                <a:solidFill>
                  <a:srgbClr val="050505"/>
                </a:solidFill>
                <a:latin typeface="Arial"/>
                <a:cs typeface="Arial"/>
              </a:rPr>
              <a:t> que</a:t>
            </a:r>
            <a:endParaRPr sz="2200">
              <a:latin typeface="Arial"/>
              <a:cs typeface="Arial"/>
            </a:endParaRPr>
          </a:p>
          <a:p>
            <a:pPr algn="r" marR="9525">
              <a:lnSpc>
                <a:spcPts val="2420"/>
              </a:lnSpc>
            </a:pPr>
            <a:r>
              <a:rPr dirty="0" sz="2200" spc="-120" i="1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2200" spc="-1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20" i="1">
                <a:solidFill>
                  <a:srgbClr val="050505"/>
                </a:solidFill>
                <a:latin typeface="Arial"/>
                <a:cs typeface="Arial"/>
              </a:rPr>
              <a:t>gente</a:t>
            </a:r>
            <a:r>
              <a:rPr dirty="0" sz="2200" spc="-114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200" spc="-20" i="1">
                <a:solidFill>
                  <a:srgbClr val="0A0A0A"/>
                </a:solidFill>
                <a:latin typeface="Arial"/>
                <a:cs typeface="Arial"/>
              </a:rPr>
              <a:t>sai.</a:t>
            </a:r>
            <a:endParaRPr sz="2200">
              <a:latin typeface="Arial"/>
              <a:cs typeface="Arial"/>
            </a:endParaRPr>
          </a:p>
          <a:p>
            <a:pPr algn="r" marL="366395" marR="5080" indent="-354330">
              <a:lnSpc>
                <a:spcPct val="89600"/>
              </a:lnSpc>
              <a:spcBef>
                <a:spcPts val="409"/>
              </a:spcBef>
            </a:pPr>
            <a:r>
              <a:rPr dirty="0" sz="2000" spc="-170">
                <a:latin typeface="Arial MT"/>
                <a:cs typeface="Arial MT"/>
              </a:rPr>
              <a:t>Nâo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0">
                <a:solidFill>
                  <a:srgbClr val="030303"/>
                </a:solidFill>
                <a:latin typeface="Arial MT"/>
                <a:cs typeface="Arial MT"/>
              </a:rPr>
              <a:t>tratamos</a:t>
            </a:r>
            <a:r>
              <a:rPr dirty="0" sz="2000" spc="4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000" spc="-140">
                <a:solidFill>
                  <a:srgbClr val="080808"/>
                </a:solidFill>
                <a:latin typeface="Arial MT"/>
                <a:cs typeface="Arial MT"/>
              </a:rPr>
              <a:t>sintoma.</a:t>
            </a:r>
            <a:r>
              <a:rPr dirty="0" sz="2000" spc="2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000" spc="-130">
                <a:latin typeface="Arial MT"/>
                <a:cs typeface="Arial MT"/>
              </a:rPr>
              <a:t>Buscamos </a:t>
            </a:r>
            <a:r>
              <a:rPr dirty="0" sz="2000" spc="-120">
                <a:solidFill>
                  <a:srgbClr val="111111"/>
                </a:solidFill>
                <a:latin typeface="Arial MT"/>
                <a:cs typeface="Arial MT"/>
              </a:rPr>
              <a:t>o</a:t>
            </a:r>
            <a:r>
              <a:rPr dirty="0" sz="2000" spc="-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000" spc="-145">
                <a:solidFill>
                  <a:srgbClr val="161616"/>
                </a:solidFill>
                <a:latin typeface="Arial MT"/>
                <a:cs typeface="Arial MT"/>
              </a:rPr>
              <a:t>que</a:t>
            </a:r>
            <a:r>
              <a:rPr dirty="0" sz="2000" spc="-11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00" spc="-114">
                <a:solidFill>
                  <a:srgbClr val="080808"/>
                </a:solidFill>
                <a:latin typeface="Arial MT"/>
                <a:cs typeface="Arial MT"/>
              </a:rPr>
              <a:t>estã</a:t>
            </a:r>
            <a:r>
              <a:rPr dirty="0" sz="2000" spc="-9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050505"/>
                </a:solidFill>
                <a:latin typeface="Arial MT"/>
                <a:cs typeface="Arial MT"/>
              </a:rPr>
              <a:t>tratando</a:t>
            </a:r>
            <a:r>
              <a:rPr dirty="0" sz="2000" spc="-3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000" spc="-120">
                <a:solidFill>
                  <a:srgbClr val="080808"/>
                </a:solidFill>
                <a:latin typeface="Arial MT"/>
                <a:cs typeface="Arial MT"/>
              </a:rPr>
              <a:t>o</a:t>
            </a:r>
            <a:r>
              <a:rPr dirty="0" sz="2000" spc="-5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000" spc="-90">
                <a:solidFill>
                  <a:srgbClr val="080808"/>
                </a:solidFill>
                <a:latin typeface="Arial MT"/>
                <a:cs typeface="Arial MT"/>
              </a:rPr>
              <a:t>sistema </a:t>
            </a:r>
            <a:r>
              <a:rPr dirty="0" sz="2000" spc="-140">
                <a:latin typeface="Arial MT"/>
                <a:cs typeface="Arial MT"/>
              </a:rPr>
              <a:t>para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14">
                <a:latin typeface="Arial MT"/>
                <a:cs typeface="Arial MT"/>
              </a:rPr>
              <a:t>resultado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 spc="-145">
                <a:solidFill>
                  <a:srgbClr val="0A0A0A"/>
                </a:solidFill>
                <a:latin typeface="Arial MT"/>
                <a:cs typeface="Arial MT"/>
              </a:rPr>
              <a:t>que</a:t>
            </a:r>
            <a:r>
              <a:rPr dirty="0" sz="2000" spc="-10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dura.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72245" y="2071447"/>
            <a:ext cx="3701415" cy="1923414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R="22860">
              <a:lnSpc>
                <a:spcPct val="100000"/>
              </a:lnSpc>
              <a:spcBef>
                <a:spcPts val="340"/>
              </a:spcBef>
            </a:pPr>
            <a:r>
              <a:rPr dirty="0" sz="3300" spc="-395" b="1">
                <a:solidFill>
                  <a:srgbClr val="0F0F0F"/>
                </a:solidFill>
                <a:latin typeface="Arial"/>
                <a:cs typeface="Arial"/>
              </a:rPr>
              <a:t>O1.</a:t>
            </a:r>
            <a:r>
              <a:rPr dirty="0" sz="3300" spc="-400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300" spc="-105" b="1">
                <a:solidFill>
                  <a:srgbClr val="161616"/>
                </a:solidFill>
                <a:latin typeface="Arial"/>
                <a:cs typeface="Arial"/>
              </a:rPr>
              <a:t>Profundidade</a:t>
            </a:r>
            <a:endParaRPr sz="3300">
              <a:latin typeface="Arial"/>
              <a:cs typeface="Arial"/>
            </a:endParaRPr>
          </a:p>
          <a:p>
            <a:pPr algn="ctr" marR="24130">
              <a:lnSpc>
                <a:spcPct val="100000"/>
              </a:lnSpc>
              <a:spcBef>
                <a:spcPts val="140"/>
              </a:spcBef>
            </a:pPr>
            <a:r>
              <a:rPr dirty="0" sz="2300" spc="-140" i="1">
                <a:solidFill>
                  <a:srgbClr val="080808"/>
                </a:solidFill>
                <a:latin typeface="Arial"/>
                <a:cs typeface="Arial"/>
              </a:rPr>
              <a:t>Entender</a:t>
            </a:r>
            <a:r>
              <a:rPr dirty="0" sz="2300" spc="-20" i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0A0A0A"/>
                </a:solidFill>
                <a:latin typeface="Arial MT"/>
                <a:cs typeface="Arial MT"/>
              </a:rPr>
              <a:t>antes</a:t>
            </a:r>
            <a:r>
              <a:rPr dirty="0" sz="2300" spc="-13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300" spc="-20" i="1">
                <a:solidFill>
                  <a:srgbClr val="070707"/>
                </a:solidFill>
                <a:latin typeface="Arial"/>
                <a:cs typeface="Arial"/>
              </a:rPr>
              <a:t>de</a:t>
            </a:r>
            <a:r>
              <a:rPr dirty="0" sz="2300" spc="-100" i="1">
                <a:solidFill>
                  <a:srgbClr val="070707"/>
                </a:solidFill>
                <a:latin typeface="Arial"/>
                <a:cs typeface="Arial"/>
              </a:rPr>
              <a:t> </a:t>
            </a:r>
            <a:r>
              <a:rPr dirty="0" sz="2300" spc="-10" i="1">
                <a:solidFill>
                  <a:srgbClr val="0F0F0F"/>
                </a:solidFill>
                <a:latin typeface="Arial"/>
                <a:cs typeface="Arial"/>
              </a:rPr>
              <a:t>propor</a:t>
            </a:r>
            <a:endParaRPr sz="2300">
              <a:latin typeface="Arial"/>
              <a:cs typeface="Arial"/>
            </a:endParaRPr>
          </a:p>
          <a:p>
            <a:pPr algn="ctr" marL="12700" marR="5080">
              <a:lnSpc>
                <a:spcPct val="89600"/>
              </a:lnSpc>
              <a:spcBef>
                <a:spcPts val="1385"/>
              </a:spcBef>
            </a:pPr>
            <a:r>
              <a:rPr dirty="0" sz="2000" spc="-114">
                <a:latin typeface="Arial MT"/>
                <a:cs typeface="Arial MT"/>
              </a:rPr>
              <a:t>Investimos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 spc="-135">
                <a:latin typeface="Arial MT"/>
                <a:cs typeface="Arial MT"/>
              </a:rPr>
              <a:t>tempo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14">
                <a:latin typeface="Arial MT"/>
                <a:cs typeface="Arial MT"/>
              </a:rPr>
              <a:t>entendendo</a:t>
            </a:r>
            <a:r>
              <a:rPr dirty="0" sz="2000" spc="70">
                <a:latin typeface="Arial MT"/>
                <a:cs typeface="Arial MT"/>
              </a:rPr>
              <a:t> </a:t>
            </a:r>
            <a:r>
              <a:rPr dirty="0" sz="2000" spc="-90">
                <a:latin typeface="Arial MT"/>
                <a:cs typeface="Arial MT"/>
              </a:rPr>
              <a:t>como </a:t>
            </a:r>
            <a:r>
              <a:rPr dirty="0" sz="2000" spc="-175">
                <a:solidFill>
                  <a:srgbClr val="0E0E0E"/>
                </a:solidFill>
                <a:latin typeface="Arial MT"/>
                <a:cs typeface="Arial MT"/>
              </a:rPr>
              <a:t>as</a:t>
            </a:r>
            <a:r>
              <a:rPr dirty="0" sz="2000" spc="-1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000" spc="-120">
                <a:solidFill>
                  <a:srgbClr val="0E0E0E"/>
                </a:solidFill>
                <a:latin typeface="Arial MT"/>
                <a:cs typeface="Arial MT"/>
              </a:rPr>
              <a:t>coisas</a:t>
            </a:r>
            <a:r>
              <a:rPr dirty="0" sz="2000" spc="-1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000" spc="-125">
                <a:solidFill>
                  <a:srgbClr val="0C0C0C"/>
                </a:solidFill>
                <a:latin typeface="Arial MT"/>
                <a:cs typeface="Arial MT"/>
              </a:rPr>
              <a:t>realmente</a:t>
            </a:r>
            <a:r>
              <a:rPr dirty="0" sz="2000" spc="9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11111"/>
                </a:solidFill>
                <a:latin typeface="Arial MT"/>
                <a:cs typeface="Arial MT"/>
              </a:rPr>
              <a:t>acontecem </a:t>
            </a:r>
            <a:r>
              <a:rPr dirty="0" sz="2000" spc="-125">
                <a:solidFill>
                  <a:srgbClr val="161616"/>
                </a:solidFill>
                <a:latin typeface="Arial MT"/>
                <a:cs typeface="Arial MT"/>
              </a:rPr>
              <a:t>antes</a:t>
            </a:r>
            <a:r>
              <a:rPr dirty="0" sz="2000" spc="-8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00" spc="-75">
                <a:solidFill>
                  <a:srgbClr val="0C0C0C"/>
                </a:solidFill>
                <a:latin typeface="Arial MT"/>
                <a:cs typeface="Arial MT"/>
              </a:rPr>
              <a:t>de</a:t>
            </a:r>
            <a:r>
              <a:rPr dirty="0" sz="2000" spc="-1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00" spc="-125">
                <a:solidFill>
                  <a:srgbClr val="080808"/>
                </a:solidFill>
                <a:latin typeface="Arial MT"/>
                <a:cs typeface="Arial MT"/>
              </a:rPr>
              <a:t>qualquer</a:t>
            </a:r>
            <a:r>
              <a:rPr dirty="0" sz="2000" spc="4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solução.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37208" y="5822597"/>
            <a:ext cx="228917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250">
                <a:solidFill>
                  <a:srgbClr val="181818"/>
                </a:solidFill>
                <a:latin typeface="Arial MT"/>
                <a:cs typeface="Arial MT"/>
              </a:rPr>
              <a:t>O3.</a:t>
            </a:r>
            <a:r>
              <a:rPr dirty="0" sz="3400" spc="-45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3400" spc="-145">
                <a:solidFill>
                  <a:srgbClr val="131313"/>
                </a:solidFill>
                <a:latin typeface="Arial MT"/>
                <a:cs typeface="Arial MT"/>
              </a:rPr>
              <a:t>Conexão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02835" y="6748285"/>
            <a:ext cx="2978785" cy="87884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ctr" marL="12065" marR="5080">
              <a:lnSpc>
                <a:spcPct val="89600"/>
              </a:lnSpc>
              <a:spcBef>
                <a:spcPts val="360"/>
              </a:spcBef>
            </a:pPr>
            <a:r>
              <a:rPr dirty="0" sz="2000" spc="-240">
                <a:solidFill>
                  <a:srgbClr val="0F0F0F"/>
                </a:solidFill>
                <a:latin typeface="Arial MT"/>
                <a:cs typeface="Arial MT"/>
              </a:rPr>
              <a:t>O</a:t>
            </a:r>
            <a:r>
              <a:rPr dirty="0" sz="2000" spc="-7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00" spc="-125">
                <a:latin typeface="Arial MT"/>
                <a:cs typeface="Arial MT"/>
              </a:rPr>
              <a:t>conhecimento</a:t>
            </a:r>
            <a:r>
              <a:rPr dirty="0" sz="2000" spc="100">
                <a:latin typeface="Arial MT"/>
                <a:cs typeface="Arial MT"/>
              </a:rPr>
              <a:t> </a:t>
            </a:r>
            <a:r>
              <a:rPr dirty="0" sz="2000" spc="-125">
                <a:latin typeface="Arial MT"/>
                <a:cs typeface="Arial MT"/>
              </a:rPr>
              <a:t>circula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90">
                <a:solidFill>
                  <a:srgbClr val="0A0A0A"/>
                </a:solidFill>
                <a:latin typeface="Arial MT"/>
                <a:cs typeface="Arial MT"/>
              </a:rPr>
              <a:t>pelas </a:t>
            </a:r>
            <a:r>
              <a:rPr dirty="0" sz="2000" spc="-125">
                <a:latin typeface="Arial MT"/>
                <a:cs typeface="Arial MT"/>
              </a:rPr>
              <a:t>relações.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50">
                <a:solidFill>
                  <a:srgbClr val="1C1C1C"/>
                </a:solidFill>
                <a:latin typeface="Arial MT"/>
                <a:cs typeface="Arial MT"/>
              </a:rPr>
              <a:t>Ê</a:t>
            </a:r>
            <a:r>
              <a:rPr dirty="0" sz="2000" spc="-22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000" spc="-110">
                <a:solidFill>
                  <a:srgbClr val="080808"/>
                </a:solidFill>
                <a:latin typeface="Arial MT"/>
                <a:cs typeface="Arial MT"/>
              </a:rPr>
              <a:t>no</a:t>
            </a:r>
            <a:r>
              <a:rPr dirty="0" sz="2000" spc="-114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000" spc="-105">
                <a:latin typeface="Arial MT"/>
                <a:cs typeface="Arial MT"/>
              </a:rPr>
              <a:t>encontro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que </a:t>
            </a:r>
            <a:r>
              <a:rPr dirty="0" sz="2000" spc="-95">
                <a:solidFill>
                  <a:srgbClr val="0E0E0E"/>
                </a:solidFill>
                <a:latin typeface="Arial MT"/>
                <a:cs typeface="Arial MT"/>
              </a:rPr>
              <a:t>a</a:t>
            </a:r>
            <a:r>
              <a:rPr dirty="0" sz="2000" spc="-1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000" spc="-105">
                <a:solidFill>
                  <a:srgbClr val="0F0F0F"/>
                </a:solidFill>
                <a:latin typeface="Arial MT"/>
                <a:cs typeface="Arial MT"/>
              </a:rPr>
              <a:t>rede </a:t>
            </a:r>
            <a:r>
              <a:rPr dirty="0" sz="2000" spc="-125">
                <a:solidFill>
                  <a:srgbClr val="080808"/>
                </a:solidFill>
                <a:latin typeface="Arial MT"/>
                <a:cs typeface="Arial MT"/>
              </a:rPr>
              <a:t>se</a:t>
            </a:r>
            <a:r>
              <a:rPr dirty="0" sz="2000" spc="-10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fortalece.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05022" y="3955443"/>
            <a:ext cx="3584575" cy="194437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3400" spc="-280" b="1">
                <a:solidFill>
                  <a:srgbClr val="1C1C1C"/>
                </a:solidFill>
                <a:latin typeface="Arial"/>
                <a:cs typeface="Arial"/>
              </a:rPr>
              <a:t>O2.</a:t>
            </a:r>
            <a:r>
              <a:rPr dirty="0" sz="3400" spc="-455" b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3400" spc="-150" b="1">
                <a:solidFill>
                  <a:srgbClr val="111111"/>
                </a:solidFill>
                <a:latin typeface="Arial"/>
                <a:cs typeface="Arial"/>
              </a:rPr>
              <a:t>Humanização</a:t>
            </a:r>
            <a:endParaRPr sz="34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219"/>
              </a:spcBef>
            </a:pPr>
            <a:r>
              <a:rPr dirty="0" sz="2200" spc="-114" i="1">
                <a:latin typeface="Arial"/>
                <a:cs typeface="Arial"/>
              </a:rPr>
              <a:t>Pessoas</a:t>
            </a:r>
            <a:r>
              <a:rPr dirty="0" sz="2200" spc="10" i="1">
                <a:latin typeface="Arial"/>
                <a:cs typeface="Arial"/>
              </a:rPr>
              <a:t> </a:t>
            </a:r>
            <a:r>
              <a:rPr dirty="0" sz="2200" spc="-90" i="1">
                <a:latin typeface="Arial"/>
                <a:cs typeface="Arial"/>
              </a:rPr>
              <a:t>não</a:t>
            </a:r>
            <a:r>
              <a:rPr dirty="0" sz="2200" spc="-75" i="1">
                <a:latin typeface="Arial"/>
                <a:cs typeface="Arial"/>
              </a:rPr>
              <a:t> </a:t>
            </a:r>
            <a:r>
              <a:rPr dirty="0" sz="2200" spc="-75" i="1">
                <a:solidFill>
                  <a:srgbClr val="050505"/>
                </a:solidFill>
                <a:latin typeface="Arial"/>
                <a:cs typeface="Arial"/>
              </a:rPr>
              <a:t>são</a:t>
            </a:r>
            <a:r>
              <a:rPr dirty="0" sz="2200" spc="-70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latin typeface="Arial"/>
                <a:cs typeface="Arial"/>
              </a:rPr>
              <a:t>indicadores.</a:t>
            </a:r>
            <a:endParaRPr sz="2200">
              <a:latin typeface="Arial"/>
              <a:cs typeface="Arial"/>
            </a:endParaRPr>
          </a:p>
          <a:p>
            <a:pPr marL="14604" marR="5080" indent="3175">
              <a:lnSpc>
                <a:spcPct val="88500"/>
              </a:lnSpc>
              <a:spcBef>
                <a:spcPts val="1485"/>
              </a:spcBef>
            </a:pPr>
            <a:r>
              <a:rPr dirty="0" sz="2000" spc="-155">
                <a:solidFill>
                  <a:srgbClr val="050505"/>
                </a:solidFill>
                <a:latin typeface="Arial MT"/>
                <a:cs typeface="Arial MT"/>
              </a:rPr>
              <a:t>Gente</a:t>
            </a:r>
            <a:r>
              <a:rPr dirty="0" sz="2000" spc="-3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000" spc="-150">
                <a:solidFill>
                  <a:srgbClr val="131313"/>
                </a:solidFill>
                <a:latin typeface="Arial MT"/>
                <a:cs typeface="Arial MT"/>
              </a:rPr>
              <a:t>náo</a:t>
            </a:r>
            <a:r>
              <a:rPr dirty="0" sz="2000" spc="-1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00" spc="-110">
                <a:latin typeface="Arial MT"/>
                <a:cs typeface="Arial MT"/>
              </a:rPr>
              <a:t>é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45">
                <a:solidFill>
                  <a:srgbClr val="080808"/>
                </a:solidFill>
                <a:latin typeface="Arial MT"/>
                <a:cs typeface="Arial MT"/>
              </a:rPr>
              <a:t>dado</a:t>
            </a:r>
            <a:r>
              <a:rPr dirty="0" sz="2000" spc="-8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000" spc="-95">
                <a:latin typeface="Arial MT"/>
                <a:cs typeface="Arial MT"/>
              </a:rPr>
              <a:t>a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45">
                <a:latin typeface="Arial MT"/>
                <a:cs typeface="Arial MT"/>
              </a:rPr>
              <a:t>ser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 spc="-110">
                <a:latin typeface="Arial MT"/>
                <a:cs typeface="Arial MT"/>
              </a:rPr>
              <a:t>gerenciado. </a:t>
            </a:r>
            <a:r>
              <a:rPr dirty="0" sz="2000" spc="-160">
                <a:latin typeface="Arial MT"/>
                <a:cs typeface="Arial MT"/>
              </a:rPr>
              <a:t>Escutamos</a:t>
            </a:r>
            <a:r>
              <a:rPr dirty="0" sz="2000" spc="90">
                <a:latin typeface="Arial MT"/>
                <a:cs typeface="Arial MT"/>
              </a:rPr>
              <a:t> </a:t>
            </a:r>
            <a:r>
              <a:rPr dirty="0" sz="2000" spc="-114">
                <a:solidFill>
                  <a:srgbClr val="050505"/>
                </a:solidFill>
                <a:latin typeface="Arial MT"/>
                <a:cs typeface="Arial MT"/>
              </a:rPr>
              <a:t>primeiro,</a:t>
            </a:r>
            <a:r>
              <a:rPr dirty="0" sz="2000" spc="3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000" spc="-120">
                <a:solidFill>
                  <a:srgbClr val="0F0F0F"/>
                </a:solidFill>
                <a:latin typeface="Arial MT"/>
                <a:cs typeface="Arial MT"/>
              </a:rPr>
              <a:t>pois</a:t>
            </a:r>
            <a:r>
              <a:rPr dirty="0" sz="20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00" spc="-110">
                <a:solidFill>
                  <a:srgbClr val="080808"/>
                </a:solidFill>
                <a:latin typeface="Arial MT"/>
                <a:cs typeface="Arial MT"/>
              </a:rPr>
              <a:t>é</a:t>
            </a:r>
            <a:r>
              <a:rPr dirty="0" sz="2000" spc="-17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000" spc="-145">
                <a:latin typeface="Arial MT"/>
                <a:cs typeface="Arial MT"/>
              </a:rPr>
              <a:t>onde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a </a:t>
            </a:r>
            <a:r>
              <a:rPr dirty="0" sz="2000" spc="-150">
                <a:solidFill>
                  <a:srgbClr val="070707"/>
                </a:solidFill>
                <a:latin typeface="Arial MT"/>
                <a:cs typeface="Arial MT"/>
              </a:rPr>
              <a:t>mudança</a:t>
            </a:r>
            <a:r>
              <a:rPr dirty="0" sz="2000" spc="9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2000" spc="-150">
                <a:solidFill>
                  <a:srgbClr val="0A0A0A"/>
                </a:solidFill>
                <a:latin typeface="Arial MT"/>
                <a:cs typeface="Arial MT"/>
              </a:rPr>
              <a:t>começa</a:t>
            </a:r>
            <a:r>
              <a:rPr dirty="0" sz="2000" spc="-5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000" spc="-100">
                <a:solidFill>
                  <a:srgbClr val="0C0C0C"/>
                </a:solidFill>
                <a:latin typeface="Arial MT"/>
                <a:cs typeface="Arial MT"/>
              </a:rPr>
              <a:t>ou</a:t>
            </a:r>
            <a:r>
              <a:rPr dirty="0" sz="2000" spc="-18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050505"/>
                </a:solidFill>
                <a:latin typeface="Arial MT"/>
                <a:cs typeface="Arial MT"/>
              </a:rPr>
              <a:t>trava.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2051" y="407105"/>
            <a:ext cx="258762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8795" algn="l"/>
              </a:tabLst>
            </a:pPr>
            <a:r>
              <a:rPr dirty="0" sz="1950" spc="55">
                <a:solidFill>
                  <a:srgbClr val="3F3F3F"/>
                </a:solidFill>
                <a:latin typeface="Arial MT"/>
                <a:cs typeface="Arial MT"/>
              </a:rPr>
              <a:t>04</a:t>
            </a:r>
            <a:r>
              <a:rPr dirty="0" sz="1950">
                <a:solidFill>
                  <a:srgbClr val="3F3F3F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666666"/>
                </a:solidFill>
                <a:latin typeface="Arial MT"/>
                <a:cs typeface="Arial MT"/>
              </a:rPr>
              <a:t>O</a:t>
            </a:r>
            <a:r>
              <a:rPr dirty="0" sz="1950" spc="-10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950" spc="-70">
                <a:solidFill>
                  <a:srgbClr val="363636"/>
                </a:solidFill>
                <a:latin typeface="Arial MT"/>
                <a:cs typeface="Arial MT"/>
              </a:rPr>
              <a:t>QUE</a:t>
            </a:r>
            <a:r>
              <a:rPr dirty="0" sz="1950" spc="-2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1950" spc="-65">
                <a:solidFill>
                  <a:srgbClr val="313131"/>
                </a:solidFill>
                <a:latin typeface="Arial MT"/>
                <a:cs typeface="Arial MT"/>
              </a:rPr>
              <a:t>MOVEMOS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02856" y="712963"/>
            <a:ext cx="6130925" cy="1204595"/>
          </a:xfrm>
          <a:prstGeom prst="rect"/>
        </p:spPr>
        <p:txBody>
          <a:bodyPr wrap="square" lIns="0" tIns="123825" rIns="0" bIns="0" rtlCol="0" vert="horz">
            <a:spAutoFit/>
          </a:bodyPr>
          <a:lstStyle/>
          <a:p>
            <a:pPr marL="12700" marR="5080" indent="8890">
              <a:lnSpc>
                <a:spcPts val="4200"/>
              </a:lnSpc>
              <a:spcBef>
                <a:spcPts val="975"/>
              </a:spcBef>
            </a:pPr>
            <a:r>
              <a:rPr dirty="0" sz="4200">
                <a:solidFill>
                  <a:srgbClr val="131313"/>
                </a:solidFill>
                <a:latin typeface="Arial MT"/>
                <a:cs typeface="Arial MT"/>
              </a:rPr>
              <a:t>Quatro</a:t>
            </a:r>
            <a:r>
              <a:rPr dirty="0" sz="4200" spc="-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200" spc="125">
                <a:solidFill>
                  <a:srgbClr val="131313"/>
                </a:solidFill>
                <a:latin typeface="Arial MT"/>
                <a:cs typeface="Arial MT"/>
              </a:rPr>
              <a:t>territórios</a:t>
            </a:r>
            <a:r>
              <a:rPr dirty="0" sz="4200" spc="-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200" spc="40">
                <a:solidFill>
                  <a:srgbClr val="0F3623"/>
                </a:solidFill>
                <a:latin typeface="Arial MT"/>
                <a:cs typeface="Arial MT"/>
              </a:rPr>
              <a:t>de </a:t>
            </a:r>
            <a:r>
              <a:rPr dirty="0" sz="4200">
                <a:solidFill>
                  <a:srgbClr val="1F1F1F"/>
                </a:solidFill>
                <a:latin typeface="Arial MT"/>
                <a:cs typeface="Arial MT"/>
              </a:rPr>
              <a:t>atuação</a:t>
            </a:r>
            <a:r>
              <a:rPr dirty="0" sz="4200" spc="9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4200" spc="105">
                <a:solidFill>
                  <a:srgbClr val="131313"/>
                </a:solidFill>
                <a:latin typeface="Arial MT"/>
                <a:cs typeface="Arial MT"/>
              </a:rPr>
              <a:t>interconectados</a:t>
            </a:r>
            <a:endParaRPr sz="4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88779" y="6897864"/>
            <a:ext cx="3007995" cy="859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6985">
              <a:lnSpc>
                <a:spcPts val="3170"/>
              </a:lnSpc>
              <a:spcBef>
                <a:spcPts val="135"/>
              </a:spcBef>
            </a:pPr>
            <a:r>
              <a:rPr dirty="0" sz="2950" spc="145">
                <a:solidFill>
                  <a:srgbClr val="131313"/>
                </a:solidFill>
                <a:latin typeface="Arial MT"/>
                <a:cs typeface="Arial MT"/>
              </a:rPr>
              <a:t>03.</a:t>
            </a:r>
            <a:r>
              <a:rPr dirty="0" sz="2950" spc="-4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0C0C0C"/>
                </a:solidFill>
                <a:latin typeface="Arial MT"/>
                <a:cs typeface="Arial MT"/>
              </a:rPr>
              <a:t>Liderança</a:t>
            </a:r>
            <a:r>
              <a:rPr dirty="0" sz="2950" spc="8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950" spc="-50">
                <a:solidFill>
                  <a:srgbClr val="1F1F1F"/>
                </a:solidFill>
                <a:latin typeface="Arial MT"/>
                <a:cs typeface="Arial MT"/>
              </a:rPr>
              <a:t>&amp;</a:t>
            </a:r>
            <a:endParaRPr sz="2950">
              <a:latin typeface="Arial MT"/>
              <a:cs typeface="Arial MT"/>
            </a:endParaRPr>
          </a:p>
          <a:p>
            <a:pPr algn="r" marR="5080">
              <a:lnSpc>
                <a:spcPts val="3350"/>
              </a:lnSpc>
            </a:pPr>
            <a:r>
              <a:rPr dirty="0" sz="3100" spc="-25">
                <a:solidFill>
                  <a:srgbClr val="0C0C0C"/>
                </a:solidFill>
                <a:latin typeface="Arial MT"/>
                <a:cs typeface="Arial MT"/>
              </a:rPr>
              <a:t>Desenvolvimento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R="4369435">
              <a:lnSpc>
                <a:spcPts val="3495"/>
              </a:lnSpc>
              <a:spcBef>
                <a:spcPts val="95"/>
              </a:spcBef>
            </a:pPr>
            <a:r>
              <a:rPr dirty="0">
                <a:solidFill>
                  <a:srgbClr val="181818"/>
                </a:solidFill>
              </a:rPr>
              <a:t>04.</a:t>
            </a:r>
            <a:r>
              <a:rPr dirty="0" spc="-285">
                <a:solidFill>
                  <a:srgbClr val="181818"/>
                </a:solidFill>
              </a:rPr>
              <a:t> </a:t>
            </a:r>
            <a:r>
              <a:rPr dirty="0" spc="-114"/>
              <a:t>Transformação</a:t>
            </a:r>
          </a:p>
          <a:p>
            <a:pPr algn="r" marR="4355465">
              <a:lnSpc>
                <a:spcPts val="3375"/>
              </a:lnSpc>
            </a:pPr>
            <a:r>
              <a:rPr dirty="0" sz="3100" spc="-235">
                <a:solidFill>
                  <a:srgbClr val="111111"/>
                </a:solidFill>
              </a:rPr>
              <a:t>&amp;</a:t>
            </a:r>
            <a:r>
              <a:rPr dirty="0" sz="3100" spc="-310">
                <a:solidFill>
                  <a:srgbClr val="111111"/>
                </a:solidFill>
              </a:rPr>
              <a:t> </a:t>
            </a:r>
            <a:r>
              <a:rPr dirty="0" sz="3100" spc="-10">
                <a:solidFill>
                  <a:srgbClr val="0F0F0F"/>
                </a:solidFill>
              </a:rPr>
              <a:t>Mudança</a:t>
            </a:r>
            <a:endParaRPr sz="3100"/>
          </a:p>
          <a:p>
            <a:pPr>
              <a:lnSpc>
                <a:spcPct val="100000"/>
              </a:lnSpc>
            </a:pPr>
            <a:endParaRPr sz="3100"/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3100"/>
          </a:p>
          <a:p>
            <a:pPr marL="4976495" marR="5080" indent="495934">
              <a:lnSpc>
                <a:spcPts val="3000"/>
              </a:lnSpc>
            </a:pPr>
            <a:r>
              <a:rPr dirty="0" sz="2950" spc="-10">
                <a:solidFill>
                  <a:srgbClr val="0A0A0A"/>
                </a:solidFill>
              </a:rPr>
              <a:t>Evoluçâo Organizacional</a:t>
            </a:r>
            <a:endParaRPr sz="2950"/>
          </a:p>
        </p:txBody>
      </p:sp>
      <p:sp>
        <p:nvSpPr>
          <p:cNvPr id="7" name="object 7"/>
          <p:cNvSpPr txBox="1"/>
          <p:nvPr/>
        </p:nvSpPr>
        <p:spPr>
          <a:xfrm>
            <a:off x="11578046" y="1971675"/>
            <a:ext cx="1835150" cy="88265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825"/>
              </a:spcBef>
            </a:pPr>
            <a:r>
              <a:rPr dirty="0" sz="3100" spc="-125">
                <a:solidFill>
                  <a:srgbClr val="161616"/>
                </a:solidFill>
                <a:latin typeface="Arial MT"/>
                <a:cs typeface="Arial MT"/>
              </a:rPr>
              <a:t>01.</a:t>
            </a:r>
            <a:r>
              <a:rPr dirty="0" sz="3100" spc="-37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3100" spc="-40">
                <a:solidFill>
                  <a:srgbClr val="0A0A0A"/>
                </a:solidFill>
                <a:latin typeface="Arial MT"/>
                <a:cs typeface="Arial MT"/>
              </a:rPr>
              <a:t>Cultura </a:t>
            </a:r>
            <a:r>
              <a:rPr dirty="0" sz="3100" spc="-235">
                <a:solidFill>
                  <a:srgbClr val="05210F"/>
                </a:solidFill>
                <a:latin typeface="Arial MT"/>
                <a:cs typeface="Arial MT"/>
              </a:rPr>
              <a:t>&amp;</a:t>
            </a:r>
            <a:r>
              <a:rPr dirty="0" sz="3100" spc="-325">
                <a:solidFill>
                  <a:srgbClr val="05210F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0A0A0A"/>
                </a:solidFill>
                <a:latin typeface="Arial MT"/>
                <a:cs typeface="Arial MT"/>
              </a:rPr>
              <a:t>Etica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39698" y="6891514"/>
            <a:ext cx="3787140" cy="861694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 marR="5080" indent="13970">
              <a:lnSpc>
                <a:spcPts val="3000"/>
              </a:lnSpc>
              <a:spcBef>
                <a:spcPts val="685"/>
              </a:spcBef>
            </a:pPr>
            <a:r>
              <a:rPr dirty="0" sz="2950" spc="105">
                <a:solidFill>
                  <a:srgbClr val="0E0E0E"/>
                </a:solidFill>
                <a:latin typeface="Arial MT"/>
                <a:cs typeface="Arial MT"/>
              </a:rPr>
              <a:t>02.</a:t>
            </a:r>
            <a:r>
              <a:rPr dirty="0" sz="2950" spc="-204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0A0A0A"/>
                </a:solidFill>
                <a:latin typeface="Arial MT"/>
                <a:cs typeface="Arial MT"/>
              </a:rPr>
              <a:t>Estrutura</a:t>
            </a:r>
            <a:r>
              <a:rPr dirty="0" sz="2950" spc="18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950" spc="-50">
                <a:solidFill>
                  <a:srgbClr val="111111"/>
                </a:solidFill>
                <a:latin typeface="Arial MT"/>
                <a:cs typeface="Arial MT"/>
              </a:rPr>
              <a:t>&amp; </a:t>
            </a:r>
            <a:r>
              <a:rPr dirty="0" sz="2950">
                <a:solidFill>
                  <a:srgbClr val="0C0C0C"/>
                </a:solidFill>
                <a:latin typeface="Arial MT"/>
                <a:cs typeface="Arial MT"/>
              </a:rPr>
              <a:t>Estratégia</a:t>
            </a:r>
            <a:r>
              <a:rPr dirty="0" sz="2950" spc="16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950" spc="95">
                <a:solidFill>
                  <a:srgbClr val="1A1A1A"/>
                </a:solidFill>
                <a:latin typeface="Arial MT"/>
                <a:cs typeface="Arial MT"/>
              </a:rPr>
              <a:t>de</a:t>
            </a:r>
            <a:r>
              <a:rPr dirty="0" sz="2950" spc="-14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0A0A0A"/>
                </a:solidFill>
                <a:latin typeface="Arial MT"/>
                <a:cs typeface="Arial MT"/>
              </a:rPr>
              <a:t>Pessoas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2603500"/>
            <a:ext cx="3111500" cy="2603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0600" y="0"/>
            <a:ext cx="7632700" cy="7315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2997" y="685447"/>
            <a:ext cx="245237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0">
                <a:solidFill>
                  <a:srgbClr val="494949"/>
                </a:solidFill>
                <a:latin typeface="Courier New"/>
                <a:cs typeface="Courier New"/>
              </a:rPr>
              <a:t>fEPRTÓMO01</a:t>
            </a:r>
            <a:r>
              <a:rPr dirty="0" sz="2150" spc="-315">
                <a:solidFill>
                  <a:srgbClr val="494949"/>
                </a:solidFill>
                <a:latin typeface="Courier New"/>
                <a:cs typeface="Courier New"/>
              </a:rPr>
              <a:t> </a:t>
            </a:r>
            <a:r>
              <a:rPr dirty="0" sz="2150" spc="-20">
                <a:solidFill>
                  <a:srgbClr val="444444"/>
                </a:solidFill>
                <a:latin typeface="Courier New"/>
                <a:cs typeface="Courier New"/>
              </a:rPr>
              <a:t>UE04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646751" y="2002366"/>
            <a:ext cx="2542540" cy="3524250"/>
          </a:xfrm>
          <a:prstGeom prst="rect"/>
        </p:spPr>
        <p:txBody>
          <a:bodyPr wrap="square" lIns="0" tIns="575945" rIns="0" bIns="0" rtlCol="0" vert="horz">
            <a:spAutoFit/>
          </a:bodyPr>
          <a:lstStyle/>
          <a:p>
            <a:pPr marL="12700" marR="5080" indent="143510">
              <a:lnSpc>
                <a:spcPct val="72400"/>
              </a:lnSpc>
              <a:spcBef>
                <a:spcPts val="4535"/>
              </a:spcBef>
            </a:pPr>
            <a:r>
              <a:rPr dirty="0" sz="13300" spc="-200">
                <a:solidFill>
                  <a:srgbClr val="133A24"/>
                </a:solidFill>
                <a:latin typeface="Arial MT"/>
                <a:cs typeface="Arial MT"/>
              </a:rPr>
              <a:t>ura </a:t>
            </a:r>
            <a:r>
              <a:rPr dirty="0" sz="13300" spc="265">
                <a:solidFill>
                  <a:srgbClr val="212121"/>
                </a:solidFill>
                <a:latin typeface="Arial MT"/>
                <a:cs typeface="Arial MT"/>
              </a:rPr>
              <a:t>ic</a:t>
            </a:r>
            <a:r>
              <a:rPr dirty="0" sz="13300" spc="265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endParaRPr sz="13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7811" y="5500158"/>
            <a:ext cx="5609590" cy="150177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 marR="5080" indent="15875">
              <a:lnSpc>
                <a:spcPts val="3700"/>
              </a:lnSpc>
              <a:spcBef>
                <a:spcPts val="680"/>
              </a:spcBef>
            </a:pPr>
            <a:r>
              <a:rPr dirty="0" sz="3550" spc="-335">
                <a:solidFill>
                  <a:srgbClr val="0A0A0A"/>
                </a:solidFill>
                <a:latin typeface="Arial MT"/>
                <a:cs typeface="Arial MT"/>
              </a:rPr>
              <a:t>Apoio</a:t>
            </a:r>
            <a:r>
              <a:rPr dirty="0" sz="3550" spc="8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3550" spc="-515">
                <a:solidFill>
                  <a:srgbClr val="0C0C0C"/>
                </a:solidFill>
                <a:latin typeface="Arial MT"/>
                <a:cs typeface="Arial MT"/>
              </a:rPr>
              <a:t>à</a:t>
            </a:r>
            <a:r>
              <a:rPr dirty="0" sz="3550" spc="-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550" spc="-310">
                <a:latin typeface="Arial MT"/>
                <a:cs typeface="Arial MT"/>
              </a:rPr>
              <a:t>evoluçõo</a:t>
            </a:r>
            <a:r>
              <a:rPr dirty="0" sz="3550" spc="135">
                <a:latin typeface="Arial MT"/>
                <a:cs typeface="Arial MT"/>
              </a:rPr>
              <a:t> </a:t>
            </a:r>
            <a:r>
              <a:rPr dirty="0" sz="3550" spc="-210">
                <a:latin typeface="Arial MT"/>
                <a:cs typeface="Arial MT"/>
              </a:rPr>
              <a:t>organizacional </a:t>
            </a:r>
            <a:r>
              <a:rPr dirty="0" sz="3300" spc="-260">
                <a:solidFill>
                  <a:srgbClr val="0C0C0C"/>
                </a:solidFill>
                <a:latin typeface="Arial MT"/>
                <a:cs typeface="Arial MT"/>
              </a:rPr>
              <a:t>e</a:t>
            </a:r>
            <a:r>
              <a:rPr dirty="0" sz="3300" spc="-10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300" spc="-105">
                <a:latin typeface="Arial MT"/>
                <a:cs typeface="Arial MT"/>
              </a:rPr>
              <a:t>leitura</a:t>
            </a:r>
            <a:r>
              <a:rPr dirty="0" sz="3300" spc="-125">
                <a:latin typeface="Arial MT"/>
                <a:cs typeface="Arial MT"/>
              </a:rPr>
              <a:t> </a:t>
            </a:r>
            <a:r>
              <a:rPr dirty="0" sz="3300" spc="-229">
                <a:solidFill>
                  <a:srgbClr val="0A0A0A"/>
                </a:solidFill>
                <a:latin typeface="Arial MT"/>
                <a:cs typeface="Arial MT"/>
              </a:rPr>
              <a:t>da</a:t>
            </a:r>
            <a:r>
              <a:rPr dirty="0" sz="3300" spc="-9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3300" spc="-150">
                <a:latin typeface="Arial MT"/>
                <a:cs typeface="Arial MT"/>
              </a:rPr>
              <a:t>empresa</a:t>
            </a:r>
            <a:r>
              <a:rPr dirty="0" sz="3300">
                <a:latin typeface="Arial MT"/>
                <a:cs typeface="Arial MT"/>
              </a:rPr>
              <a:t> </a:t>
            </a:r>
            <a:r>
              <a:rPr dirty="0" sz="3300" spc="-25">
                <a:solidFill>
                  <a:srgbClr val="0E0E0E"/>
                </a:solidFill>
                <a:latin typeface="Arial MT"/>
                <a:cs typeface="Arial MT"/>
              </a:rPr>
              <a:t>em </a:t>
            </a:r>
            <a:r>
              <a:rPr dirty="0" sz="3400" spc="-95">
                <a:latin typeface="Arial MT"/>
                <a:cs typeface="Arial MT"/>
              </a:rPr>
              <a:t>profundidade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60538" y="2620433"/>
            <a:ext cx="3724275" cy="188150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algn="ctr" marL="12700" marR="5080" indent="1270">
              <a:lnSpc>
                <a:spcPct val="80100"/>
              </a:lnSpc>
              <a:spcBef>
                <a:spcPts val="810"/>
              </a:spcBef>
            </a:pPr>
            <a:r>
              <a:rPr dirty="0" sz="2900" spc="-130">
                <a:latin typeface="Arial MT"/>
                <a:cs typeface="Arial MT"/>
              </a:rPr>
              <a:t>Transformação</a:t>
            </a:r>
            <a:r>
              <a:rPr dirty="0" sz="2900" spc="-2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cultural </a:t>
            </a:r>
            <a:r>
              <a:rPr dirty="0" sz="2950" spc="-170">
                <a:latin typeface="Arial MT"/>
                <a:cs typeface="Arial MT"/>
              </a:rPr>
              <a:t>(mapeamento</a:t>
            </a:r>
            <a:r>
              <a:rPr dirty="0" sz="2950" spc="65">
                <a:latin typeface="Arial MT"/>
                <a:cs typeface="Arial MT"/>
              </a:rPr>
              <a:t> </a:t>
            </a:r>
            <a:r>
              <a:rPr dirty="0" sz="2950" spc="-240">
                <a:solidFill>
                  <a:srgbClr val="080808"/>
                </a:solidFill>
                <a:latin typeface="Arial MT"/>
                <a:cs typeface="Arial MT"/>
              </a:rPr>
              <a:t>de</a:t>
            </a:r>
            <a:r>
              <a:rPr dirty="0" sz="2950" spc="-8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950" spc="-175">
                <a:latin typeface="Arial MT"/>
                <a:cs typeface="Arial MT"/>
              </a:rPr>
              <a:t>valores </a:t>
            </a:r>
            <a:r>
              <a:rPr dirty="0" sz="2750" spc="-45">
                <a:solidFill>
                  <a:srgbClr val="050505"/>
                </a:solidFill>
                <a:latin typeface="Arial MT"/>
                <a:cs typeface="Arial MT"/>
              </a:rPr>
              <a:t>declarados</a:t>
            </a:r>
            <a:r>
              <a:rPr dirty="0" sz="2750" spc="-9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750" spc="-95">
                <a:latin typeface="Arial MT"/>
                <a:cs typeface="Arial MT"/>
              </a:rPr>
              <a:t>vs.</a:t>
            </a:r>
            <a:r>
              <a:rPr dirty="0" sz="2750" spc="-130"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050505"/>
                </a:solidFill>
                <a:latin typeface="Arial MT"/>
                <a:cs typeface="Arial MT"/>
              </a:rPr>
              <a:t>em</a:t>
            </a:r>
            <a:r>
              <a:rPr dirty="0" sz="2750" spc="-14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0C0C0C"/>
                </a:solidFill>
                <a:latin typeface="Arial MT"/>
                <a:cs typeface="Arial MT"/>
              </a:rPr>
              <a:t>uso, </a:t>
            </a:r>
            <a:r>
              <a:rPr dirty="0" sz="2900" spc="-145">
                <a:solidFill>
                  <a:srgbClr val="050505"/>
                </a:solidFill>
                <a:latin typeface="Arial MT"/>
                <a:cs typeface="Arial MT"/>
              </a:rPr>
              <a:t>padrões</a:t>
            </a:r>
            <a:r>
              <a:rPr dirty="0" sz="2900" spc="-4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900" spc="-260">
                <a:solidFill>
                  <a:srgbClr val="050505"/>
                </a:solidFill>
                <a:latin typeface="Arial MT"/>
                <a:cs typeface="Arial MT"/>
              </a:rPr>
              <a:t>e</a:t>
            </a:r>
            <a:r>
              <a:rPr dirty="0" sz="2900" spc="-15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900" spc="-10">
                <a:solidFill>
                  <a:srgbClr val="050505"/>
                </a:solidFill>
                <a:latin typeface="Arial MT"/>
                <a:cs typeface="Arial MT"/>
              </a:rPr>
              <a:t>prontidão</a:t>
            </a:r>
            <a:r>
              <a:rPr dirty="0" sz="2900" spc="-1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950" spc="-215">
                <a:latin typeface="Arial MT"/>
                <a:cs typeface="Arial MT"/>
              </a:rPr>
              <a:t>para</a:t>
            </a:r>
            <a:r>
              <a:rPr dirty="0" sz="2950" spc="10">
                <a:latin typeface="Arial MT"/>
                <a:cs typeface="Arial MT"/>
              </a:rPr>
              <a:t> </a:t>
            </a:r>
            <a:r>
              <a:rPr dirty="0" sz="2950" spc="-75">
                <a:latin typeface="Arial MT"/>
                <a:cs typeface="Arial MT"/>
              </a:rPr>
              <a:t>mudança).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69409" y="7221714"/>
            <a:ext cx="2907030" cy="117919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algn="ctr" marL="12700" marR="5080">
              <a:lnSpc>
                <a:spcPct val="78300"/>
              </a:lnSpc>
              <a:spcBef>
                <a:spcPts val="905"/>
              </a:spcBef>
            </a:pPr>
            <a:r>
              <a:rPr dirty="0" sz="2950" spc="-229">
                <a:latin typeface="Arial MT"/>
                <a:cs typeface="Arial MT"/>
              </a:rPr>
              <a:t>Canais</a:t>
            </a:r>
            <a:r>
              <a:rPr dirty="0" sz="2950" spc="40">
                <a:latin typeface="Arial MT"/>
                <a:cs typeface="Arial MT"/>
              </a:rPr>
              <a:t> </a:t>
            </a:r>
            <a:r>
              <a:rPr dirty="0" sz="2950" spc="-240">
                <a:latin typeface="Arial MT"/>
                <a:cs typeface="Arial MT"/>
              </a:rPr>
              <a:t>de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 spc="-165">
                <a:solidFill>
                  <a:srgbClr val="050505"/>
                </a:solidFill>
                <a:latin typeface="Arial MT"/>
                <a:cs typeface="Arial MT"/>
              </a:rPr>
              <a:t>ouvidoria </a:t>
            </a:r>
            <a:r>
              <a:rPr dirty="0" sz="2900" spc="-260">
                <a:solidFill>
                  <a:srgbClr val="080808"/>
                </a:solidFill>
                <a:latin typeface="Arial MT"/>
                <a:cs typeface="Arial MT"/>
              </a:rPr>
              <a:t>e</a:t>
            </a:r>
            <a:r>
              <a:rPr dirty="0" sz="2900" spc="-15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900" spc="-150">
                <a:latin typeface="Arial MT"/>
                <a:cs typeface="Arial MT"/>
              </a:rPr>
              <a:t>programas</a:t>
            </a:r>
            <a:r>
              <a:rPr dirty="0" sz="2900">
                <a:latin typeface="Arial MT"/>
                <a:cs typeface="Arial MT"/>
              </a:rPr>
              <a:t> </a:t>
            </a:r>
            <a:r>
              <a:rPr dirty="0" sz="2900" spc="-290">
                <a:solidFill>
                  <a:srgbClr val="0C0C0C"/>
                </a:solidFill>
                <a:latin typeface="Arial MT"/>
                <a:cs typeface="Arial MT"/>
              </a:rPr>
              <a:t>de </a:t>
            </a:r>
            <a:r>
              <a:rPr dirty="0" sz="2950" spc="-85">
                <a:latin typeface="Arial MT"/>
                <a:cs typeface="Arial MT"/>
              </a:rPr>
              <a:t>integridade.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61745" y="2620433"/>
            <a:ext cx="2951480" cy="152400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algn="ctr" marL="12700" marR="5080" indent="4445">
              <a:lnSpc>
                <a:spcPct val="79500"/>
              </a:lnSpc>
              <a:spcBef>
                <a:spcPts val="830"/>
              </a:spcBef>
            </a:pPr>
            <a:r>
              <a:rPr dirty="0" sz="2900" spc="-120">
                <a:solidFill>
                  <a:srgbClr val="030303"/>
                </a:solidFill>
                <a:latin typeface="Arial MT"/>
                <a:cs typeface="Arial MT"/>
              </a:rPr>
              <a:t>Práticas</a:t>
            </a:r>
            <a:r>
              <a:rPr dirty="0" sz="2900" spc="-55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900" spc="-35">
                <a:solidFill>
                  <a:srgbClr val="0A0A0A"/>
                </a:solidFill>
                <a:latin typeface="Arial MT"/>
                <a:cs typeface="Arial MT"/>
              </a:rPr>
              <a:t>de </a:t>
            </a:r>
            <a:r>
              <a:rPr dirty="0" sz="2900" spc="-140">
                <a:solidFill>
                  <a:srgbClr val="080808"/>
                </a:solidFill>
                <a:latin typeface="Arial MT"/>
                <a:cs typeface="Arial MT"/>
              </a:rPr>
              <a:t>qualidade</a:t>
            </a:r>
            <a:r>
              <a:rPr dirty="0" sz="2900" spc="-25">
                <a:solidFill>
                  <a:srgbClr val="080808"/>
                </a:solidFill>
                <a:latin typeface="Arial MT"/>
                <a:cs typeface="Arial MT"/>
              </a:rPr>
              <a:t> das </a:t>
            </a:r>
            <a:r>
              <a:rPr dirty="0" sz="2900" spc="-150">
                <a:solidFill>
                  <a:srgbClr val="050505"/>
                </a:solidFill>
                <a:latin typeface="Arial MT"/>
                <a:cs typeface="Arial MT"/>
              </a:rPr>
              <a:t>relações</a:t>
            </a:r>
            <a:r>
              <a:rPr dirty="0" sz="2900" spc="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900" spc="-110">
                <a:latin typeface="Arial MT"/>
                <a:cs typeface="Arial MT"/>
              </a:rPr>
              <a:t>(indo</a:t>
            </a:r>
            <a:r>
              <a:rPr dirty="0" sz="2900" spc="-100">
                <a:latin typeface="Arial MT"/>
                <a:cs typeface="Arial MT"/>
              </a:rPr>
              <a:t> </a:t>
            </a:r>
            <a:r>
              <a:rPr dirty="0" sz="2900" spc="-120">
                <a:solidFill>
                  <a:srgbClr val="030303"/>
                </a:solidFill>
                <a:latin typeface="Arial MT"/>
                <a:cs typeface="Arial MT"/>
              </a:rPr>
              <a:t>além </a:t>
            </a:r>
            <a:r>
              <a:rPr dirty="0" sz="2900" spc="-170">
                <a:solidFill>
                  <a:srgbClr val="0C0C0C"/>
                </a:solidFill>
                <a:latin typeface="Arial MT"/>
                <a:cs typeface="Arial MT"/>
              </a:rPr>
              <a:t>do</a:t>
            </a:r>
            <a:r>
              <a:rPr dirty="0" sz="2900" spc="-1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900" spc="-45">
                <a:latin typeface="Arial MT"/>
                <a:cs typeface="Arial MT"/>
              </a:rPr>
              <a:t>compliance).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31189" y="7446433"/>
            <a:ext cx="2489200" cy="81280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198120" marR="5080" indent="-186055">
              <a:lnSpc>
                <a:spcPct val="77600"/>
              </a:lnSpc>
              <a:spcBef>
                <a:spcPts val="894"/>
              </a:spcBef>
            </a:pPr>
            <a:r>
              <a:rPr dirty="0" sz="2900" spc="-215">
                <a:solidFill>
                  <a:srgbClr val="070707"/>
                </a:solidFill>
                <a:latin typeface="Arial MT"/>
                <a:cs typeface="Arial MT"/>
              </a:rPr>
              <a:t>Gestão</a:t>
            </a:r>
            <a:r>
              <a:rPr dirty="0" sz="2900" spc="5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2900" spc="-220">
                <a:solidFill>
                  <a:srgbClr val="050505"/>
                </a:solidFill>
                <a:latin typeface="Arial MT"/>
                <a:cs typeface="Arial MT"/>
              </a:rPr>
              <a:t>de</a:t>
            </a:r>
            <a:r>
              <a:rPr dirty="0" sz="2900" spc="-9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900" spc="-100">
                <a:solidFill>
                  <a:srgbClr val="050505"/>
                </a:solidFill>
                <a:latin typeface="Arial MT"/>
                <a:cs typeface="Arial MT"/>
              </a:rPr>
              <a:t>riscos </a:t>
            </a:r>
            <a:r>
              <a:rPr dirty="0" sz="2900" spc="-40">
                <a:latin typeface="Arial MT"/>
                <a:cs typeface="Arial MT"/>
              </a:rPr>
              <a:t>psicossociais.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1300" y="2247900"/>
            <a:ext cx="7480300" cy="5435600"/>
            <a:chOff x="7861300" y="2247900"/>
            <a:chExt cx="7480300" cy="5435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59900" y="2247900"/>
              <a:ext cx="5981700" cy="4876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2959100"/>
              <a:ext cx="635000" cy="660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9900" y="4330700"/>
              <a:ext cx="1651000" cy="138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37900" y="2247900"/>
              <a:ext cx="1270000" cy="1282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79000" y="3530600"/>
              <a:ext cx="3086100" cy="8255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49000" y="4356100"/>
              <a:ext cx="3937000" cy="1320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49300" y="6413500"/>
              <a:ext cx="279400" cy="279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31700" y="5676900"/>
              <a:ext cx="1422400" cy="9017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192000" y="6565900"/>
              <a:ext cx="812800" cy="304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61300" y="6870700"/>
              <a:ext cx="5067300" cy="812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741400" y="6692900"/>
              <a:ext cx="1244600" cy="4318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93660" y="724605"/>
            <a:ext cx="240157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>
                <a:solidFill>
                  <a:srgbClr val="676767"/>
                </a:solidFill>
                <a:latin typeface="Calibri"/>
                <a:cs typeface="Calibri"/>
              </a:rPr>
              <a:t>I</a:t>
            </a:r>
            <a:r>
              <a:rPr dirty="0" sz="1950" spc="25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dirty="0" sz="1950" spc="-65">
                <a:solidFill>
                  <a:srgbClr val="545454"/>
                </a:solidFill>
                <a:latin typeface="Calibri"/>
                <a:cs typeface="Calibri"/>
              </a:rPr>
              <a:t>ER</a:t>
            </a:r>
            <a:r>
              <a:rPr dirty="0" sz="1950" spc="4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45454"/>
                </a:solidFill>
                <a:latin typeface="Calibri"/>
                <a:cs typeface="Calibri"/>
              </a:rPr>
              <a:t>RI</a:t>
            </a:r>
            <a:r>
              <a:rPr dirty="0" sz="1950" spc="-4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545454"/>
                </a:solidFill>
                <a:latin typeface="Calibri"/>
                <a:cs typeface="Calibri"/>
              </a:rPr>
              <a:t>I</a:t>
            </a:r>
            <a:r>
              <a:rPr dirty="0" sz="1950" spc="-7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797979"/>
                </a:solidFill>
                <a:latin typeface="Calibri"/>
                <a:cs typeface="Calibri"/>
              </a:rPr>
              <a:t>O</a:t>
            </a:r>
            <a:r>
              <a:rPr dirty="0" sz="1950">
                <a:solidFill>
                  <a:srgbClr val="595959"/>
                </a:solidFill>
                <a:latin typeface="Calibri"/>
                <a:cs typeface="Calibri"/>
              </a:rPr>
              <a:t>RIO</a:t>
            </a:r>
            <a:r>
              <a:rPr dirty="0" sz="1950" spc="1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950" spc="85">
                <a:solidFill>
                  <a:srgbClr val="494949"/>
                </a:solidFill>
                <a:latin typeface="Calibri"/>
                <a:cs typeface="Calibri"/>
              </a:rPr>
              <a:t>02</a:t>
            </a:r>
            <a:r>
              <a:rPr dirty="0" sz="1950" spc="12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50" spc="90">
                <a:solidFill>
                  <a:srgbClr val="595959"/>
                </a:solidFill>
                <a:latin typeface="Calibri"/>
                <a:cs typeface="Calibri"/>
              </a:rPr>
              <a:t>DE</a:t>
            </a:r>
            <a:r>
              <a:rPr dirty="0" sz="1950" spc="16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950" spc="50">
                <a:solidFill>
                  <a:srgbClr val="646464"/>
                </a:solidFill>
                <a:latin typeface="Calibri"/>
                <a:cs typeface="Calibri"/>
              </a:rPr>
              <a:t>?4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7513" y="1927930"/>
            <a:ext cx="6496050" cy="50774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8415">
              <a:lnSpc>
                <a:spcPts val="10180"/>
              </a:lnSpc>
              <a:spcBef>
                <a:spcPts val="120"/>
              </a:spcBef>
            </a:pPr>
            <a:r>
              <a:rPr dirty="0" sz="10050" spc="-80">
                <a:solidFill>
                  <a:srgbClr val="0F0F0F"/>
                </a:solidFill>
                <a:latin typeface="Arial MT"/>
                <a:cs typeface="Arial MT"/>
              </a:rPr>
              <a:t>Estrutura</a:t>
            </a:r>
            <a:endParaRPr sz="10050">
              <a:latin typeface="Arial MT"/>
              <a:cs typeface="Arial MT"/>
            </a:endParaRPr>
          </a:p>
          <a:p>
            <a:pPr marL="12700">
              <a:lnSpc>
                <a:spcPts val="8770"/>
              </a:lnSpc>
            </a:pPr>
            <a:r>
              <a:rPr dirty="0" sz="10250" spc="-685">
                <a:solidFill>
                  <a:srgbClr val="072815"/>
                </a:solidFill>
                <a:latin typeface="Arial MT"/>
                <a:cs typeface="Arial MT"/>
              </a:rPr>
              <a:t>&amp;</a:t>
            </a:r>
            <a:r>
              <a:rPr dirty="0" sz="10250" spc="-1090">
                <a:solidFill>
                  <a:srgbClr val="072815"/>
                </a:solidFill>
                <a:latin typeface="Arial MT"/>
                <a:cs typeface="Arial MT"/>
              </a:rPr>
              <a:t> </a:t>
            </a:r>
            <a:r>
              <a:rPr dirty="0" sz="10250" spc="-340">
                <a:solidFill>
                  <a:srgbClr val="03210F"/>
                </a:solidFill>
                <a:latin typeface="Arial MT"/>
                <a:cs typeface="Arial MT"/>
              </a:rPr>
              <a:t>Estratégia</a:t>
            </a:r>
            <a:endParaRPr sz="10250">
              <a:latin typeface="Arial MT"/>
              <a:cs typeface="Arial MT"/>
            </a:endParaRPr>
          </a:p>
          <a:p>
            <a:pPr marL="39370">
              <a:lnSpc>
                <a:spcPts val="9615"/>
              </a:lnSpc>
            </a:pPr>
            <a:r>
              <a:rPr dirty="0" sz="9650" spc="-10">
                <a:solidFill>
                  <a:srgbClr val="052311"/>
                </a:solidFill>
                <a:latin typeface="Arial MT"/>
                <a:cs typeface="Arial MT"/>
              </a:rPr>
              <a:t>de</a:t>
            </a:r>
            <a:r>
              <a:rPr dirty="0" sz="9650" spc="-720">
                <a:solidFill>
                  <a:srgbClr val="052311"/>
                </a:solidFill>
                <a:latin typeface="Arial MT"/>
                <a:cs typeface="Arial MT"/>
              </a:rPr>
              <a:t> </a:t>
            </a:r>
            <a:r>
              <a:rPr dirty="0" sz="9650" spc="-80">
                <a:solidFill>
                  <a:srgbClr val="131313"/>
                </a:solidFill>
                <a:latin typeface="Arial MT"/>
                <a:cs typeface="Arial MT"/>
              </a:rPr>
              <a:t>Pessoas</a:t>
            </a:r>
            <a:endParaRPr sz="9650">
              <a:latin typeface="Arial MT"/>
              <a:cs typeface="Arial MT"/>
            </a:endParaRPr>
          </a:p>
          <a:p>
            <a:pPr marL="52705" marR="635000" indent="6350">
              <a:lnSpc>
                <a:spcPts val="3700"/>
              </a:lnSpc>
              <a:spcBef>
                <a:spcPts val="125"/>
              </a:spcBef>
            </a:pPr>
            <a:r>
              <a:rPr dirty="0" sz="3400" spc="-215">
                <a:latin typeface="Arial MT"/>
                <a:cs typeface="Arial MT"/>
              </a:rPr>
              <a:t>Conectar</a:t>
            </a:r>
            <a:r>
              <a:rPr dirty="0" sz="3400" spc="40">
                <a:latin typeface="Arial MT"/>
                <a:cs typeface="Arial MT"/>
              </a:rPr>
              <a:t> </a:t>
            </a:r>
            <a:r>
              <a:rPr dirty="0" sz="3400" spc="-160">
                <a:latin typeface="Arial MT"/>
                <a:cs typeface="Arial MT"/>
              </a:rPr>
              <a:t>rigorosamente</a:t>
            </a:r>
            <a:r>
              <a:rPr dirty="0" sz="3400">
                <a:latin typeface="Arial MT"/>
                <a:cs typeface="Arial MT"/>
              </a:rPr>
              <a:t> </a:t>
            </a:r>
            <a:r>
              <a:rPr dirty="0" sz="3400" spc="-355">
                <a:latin typeface="Arial MT"/>
                <a:cs typeface="Arial MT"/>
              </a:rPr>
              <a:t>a </a:t>
            </a:r>
            <a:r>
              <a:rPr dirty="0" sz="3300" spc="-114">
                <a:latin typeface="Arial MT"/>
                <a:cs typeface="Arial MT"/>
              </a:rPr>
              <a:t>estratégia</a:t>
            </a:r>
            <a:r>
              <a:rPr dirty="0" sz="3300" spc="-65">
                <a:latin typeface="Arial MT"/>
                <a:cs typeface="Arial MT"/>
              </a:rPr>
              <a:t> </a:t>
            </a:r>
            <a:r>
              <a:rPr dirty="0" sz="3300" spc="-229">
                <a:latin typeface="Arial MT"/>
                <a:cs typeface="Arial MT"/>
              </a:rPr>
              <a:t>de</a:t>
            </a:r>
            <a:r>
              <a:rPr dirty="0" sz="3300" spc="-85">
                <a:latin typeface="Arial MT"/>
                <a:cs typeface="Arial MT"/>
              </a:rPr>
              <a:t> </a:t>
            </a:r>
            <a:r>
              <a:rPr dirty="0" sz="3300" spc="-135">
                <a:latin typeface="Arial MT"/>
                <a:cs typeface="Arial MT"/>
              </a:rPr>
              <a:t>negócio</a:t>
            </a:r>
            <a:r>
              <a:rPr dirty="0" sz="3300" spc="-25">
                <a:latin typeface="Arial MT"/>
                <a:cs typeface="Arial MT"/>
              </a:rPr>
              <a:t> </a:t>
            </a:r>
            <a:r>
              <a:rPr dirty="0" sz="3300" spc="-370">
                <a:solidFill>
                  <a:srgbClr val="0C0C0C"/>
                </a:solidFill>
                <a:latin typeface="Arial MT"/>
                <a:cs typeface="Arial MT"/>
              </a:rPr>
              <a:t>à</a:t>
            </a:r>
            <a:r>
              <a:rPr dirty="0" sz="330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300" spc="-110">
                <a:latin typeface="Arial MT"/>
                <a:cs typeface="Arial MT"/>
              </a:rPr>
              <a:t>estratégia </a:t>
            </a:r>
            <a:r>
              <a:rPr dirty="0" sz="3550" spc="-320">
                <a:latin typeface="Arial MT"/>
                <a:cs typeface="Arial MT"/>
              </a:rPr>
              <a:t>de</a:t>
            </a:r>
            <a:r>
              <a:rPr dirty="0" sz="3550" spc="-254">
                <a:latin typeface="Arial MT"/>
                <a:cs typeface="Arial MT"/>
              </a:rPr>
              <a:t> </a:t>
            </a:r>
            <a:r>
              <a:rPr dirty="0" sz="3550" spc="-300">
                <a:latin typeface="Arial MT"/>
                <a:cs typeface="Arial MT"/>
              </a:rPr>
              <a:t>pessoas.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63301" y="1206852"/>
            <a:ext cx="2367915" cy="151384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algn="ctr" marL="12700" marR="5080" indent="-6985">
              <a:lnSpc>
                <a:spcPct val="80400"/>
              </a:lnSpc>
              <a:spcBef>
                <a:spcPts val="765"/>
              </a:spcBef>
            </a:pPr>
            <a:r>
              <a:rPr dirty="0" sz="2850" spc="-220">
                <a:latin typeface="Arial MT"/>
                <a:cs typeface="Arial MT"/>
              </a:rPr>
              <a:t>Redesenho</a:t>
            </a:r>
            <a:r>
              <a:rPr dirty="0" sz="2850" spc="60">
                <a:latin typeface="Arial MT"/>
                <a:cs typeface="Arial MT"/>
              </a:rPr>
              <a:t> </a:t>
            </a:r>
            <a:r>
              <a:rPr dirty="0" sz="2850" spc="-25">
                <a:latin typeface="Arial MT"/>
                <a:cs typeface="Arial MT"/>
              </a:rPr>
              <a:t>de </a:t>
            </a:r>
            <a:r>
              <a:rPr dirty="0" sz="2850" spc="-30">
                <a:latin typeface="Arial MT"/>
                <a:cs typeface="Arial MT"/>
              </a:rPr>
              <a:t>estruturas </a:t>
            </a:r>
            <a:r>
              <a:rPr dirty="0" sz="2900" spc="-125">
                <a:latin typeface="Arial MT"/>
                <a:cs typeface="Arial MT"/>
              </a:rPr>
              <a:t>organizacionais </a:t>
            </a:r>
            <a:r>
              <a:rPr dirty="0" sz="2850" spc="-245">
                <a:latin typeface="Arial MT"/>
                <a:cs typeface="Arial MT"/>
              </a:rPr>
              <a:t>e</a:t>
            </a:r>
            <a:r>
              <a:rPr dirty="0" sz="2850" spc="-140">
                <a:latin typeface="Arial MT"/>
                <a:cs typeface="Arial MT"/>
              </a:rPr>
              <a:t> </a:t>
            </a:r>
            <a:r>
              <a:rPr dirty="0" sz="2850" spc="-85">
                <a:latin typeface="Arial MT"/>
                <a:cs typeface="Arial MT"/>
              </a:rPr>
              <a:t>governança.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19072" y="1173691"/>
            <a:ext cx="2821940" cy="1853564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L="12065" marR="5080">
              <a:lnSpc>
                <a:spcPct val="83200"/>
              </a:lnSpc>
              <a:spcBef>
                <a:spcPts val="650"/>
              </a:spcBef>
            </a:pPr>
            <a:r>
              <a:rPr dirty="0" sz="2700" spc="-20">
                <a:latin typeface="Arial MT"/>
                <a:cs typeface="Arial MT"/>
              </a:rPr>
              <a:t>Modelos</a:t>
            </a:r>
            <a:r>
              <a:rPr dirty="0" sz="2700" spc="-135">
                <a:latin typeface="Arial MT"/>
                <a:cs typeface="Arial MT"/>
              </a:rPr>
              <a:t> </a:t>
            </a:r>
            <a:r>
              <a:rPr dirty="0" sz="2700" spc="-85">
                <a:latin typeface="Arial MT"/>
                <a:cs typeface="Arial MT"/>
              </a:rPr>
              <a:t>de</a:t>
            </a:r>
            <a:r>
              <a:rPr dirty="0" sz="2700" spc="-105">
                <a:latin typeface="Arial MT"/>
                <a:cs typeface="Arial MT"/>
              </a:rPr>
              <a:t> </a:t>
            </a:r>
            <a:r>
              <a:rPr dirty="0" sz="2700" spc="-50">
                <a:latin typeface="Arial MT"/>
                <a:cs typeface="Arial MT"/>
              </a:rPr>
              <a:t>gestão </a:t>
            </a:r>
            <a:r>
              <a:rPr dirty="0" sz="2700" spc="-145">
                <a:latin typeface="Arial MT"/>
                <a:cs typeface="Arial MT"/>
              </a:rPr>
              <a:t>de</a:t>
            </a:r>
            <a:r>
              <a:rPr dirty="0" sz="2700" spc="-65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pessoas (competências, </a:t>
            </a:r>
            <a:r>
              <a:rPr dirty="0" sz="2850" spc="-155">
                <a:latin typeface="Arial MT"/>
                <a:cs typeface="Arial MT"/>
              </a:rPr>
              <a:t>gestão</a:t>
            </a:r>
            <a:r>
              <a:rPr dirty="0" sz="2850" spc="-35">
                <a:latin typeface="Arial MT"/>
                <a:cs typeface="Arial MT"/>
              </a:rPr>
              <a:t> de </a:t>
            </a:r>
            <a:r>
              <a:rPr dirty="0" sz="2900" spc="-110">
                <a:latin typeface="Arial MT"/>
                <a:cs typeface="Arial MT"/>
              </a:rPr>
              <a:t>desempenho).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08746" y="7591072"/>
            <a:ext cx="2037080" cy="8083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8895">
              <a:lnSpc>
                <a:spcPts val="2975"/>
              </a:lnSpc>
              <a:spcBef>
                <a:spcPts val="125"/>
              </a:spcBef>
            </a:pPr>
            <a:r>
              <a:rPr dirty="0" sz="2750" spc="-170">
                <a:solidFill>
                  <a:srgbClr val="080808"/>
                </a:solidFill>
                <a:latin typeface="Arial MT"/>
                <a:cs typeface="Arial MT"/>
              </a:rPr>
              <a:t>e</a:t>
            </a:r>
            <a:r>
              <a:rPr dirty="0" sz="2750" spc="-10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750" spc="-55">
                <a:latin typeface="Arial MT"/>
                <a:cs typeface="Arial MT"/>
              </a:rPr>
              <a:t>modelos</a:t>
            </a:r>
            <a:r>
              <a:rPr dirty="0" sz="2750" spc="-85">
                <a:latin typeface="Arial MT"/>
                <a:cs typeface="Arial MT"/>
              </a:rPr>
              <a:t> </a:t>
            </a:r>
            <a:r>
              <a:rPr dirty="0" sz="2750" spc="-70">
                <a:latin typeface="Arial MT"/>
                <a:cs typeface="Arial MT"/>
              </a:rPr>
              <a:t>de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ts val="3155"/>
              </a:lnSpc>
            </a:pPr>
            <a:r>
              <a:rPr dirty="0" sz="2900" spc="-175">
                <a:latin typeface="Arial MT"/>
                <a:cs typeface="Arial MT"/>
              </a:rPr>
              <a:t>remuneração.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473188" y="7212894"/>
            <a:ext cx="2828290" cy="153289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algn="ctr" marL="12700" marR="5080" indent="17780">
              <a:lnSpc>
                <a:spcPct val="74700"/>
              </a:lnSpc>
              <a:spcBef>
                <a:spcPts val="1030"/>
              </a:spcBef>
            </a:pPr>
            <a:r>
              <a:rPr dirty="0" sz="3050" spc="-290">
                <a:latin typeface="Arial MT"/>
                <a:cs typeface="Arial MT"/>
              </a:rPr>
              <a:t>Mapeamento</a:t>
            </a:r>
            <a:r>
              <a:rPr dirty="0" sz="3050" spc="190">
                <a:latin typeface="Arial MT"/>
                <a:cs typeface="Arial MT"/>
              </a:rPr>
              <a:t> </a:t>
            </a:r>
            <a:r>
              <a:rPr dirty="0" sz="3050" spc="-340">
                <a:solidFill>
                  <a:srgbClr val="050505"/>
                </a:solidFill>
                <a:latin typeface="Arial MT"/>
                <a:cs typeface="Arial MT"/>
              </a:rPr>
              <a:t>de </a:t>
            </a:r>
            <a:r>
              <a:rPr dirty="0" sz="3050" spc="-200">
                <a:latin typeface="Arial MT"/>
                <a:cs typeface="Arial MT"/>
              </a:rPr>
              <a:t>talentos,</a:t>
            </a:r>
            <a:r>
              <a:rPr dirty="0" sz="3050" spc="30">
                <a:latin typeface="Arial MT"/>
                <a:cs typeface="Arial MT"/>
              </a:rPr>
              <a:t> </a:t>
            </a:r>
            <a:r>
              <a:rPr dirty="0" sz="3050" spc="-275">
                <a:latin typeface="Arial MT"/>
                <a:cs typeface="Arial MT"/>
              </a:rPr>
              <a:t>sucessão </a:t>
            </a:r>
            <a:r>
              <a:rPr dirty="0" sz="3050" spc="-360">
                <a:latin typeface="Arial MT"/>
                <a:cs typeface="Arial MT"/>
              </a:rPr>
              <a:t>e</a:t>
            </a:r>
            <a:r>
              <a:rPr dirty="0" sz="3050" spc="-210">
                <a:latin typeface="Arial MT"/>
                <a:cs typeface="Arial MT"/>
              </a:rPr>
              <a:t> </a:t>
            </a:r>
            <a:r>
              <a:rPr dirty="0" sz="3050" spc="-215">
                <a:latin typeface="Arial MT"/>
                <a:cs typeface="Arial MT"/>
              </a:rPr>
              <a:t>proposta</a:t>
            </a:r>
            <a:r>
              <a:rPr dirty="0" sz="3050" spc="50">
                <a:latin typeface="Arial MT"/>
                <a:cs typeface="Arial MT"/>
              </a:rPr>
              <a:t> </a:t>
            </a:r>
            <a:r>
              <a:rPr dirty="0" sz="3050" spc="-310">
                <a:latin typeface="Arial MT"/>
                <a:cs typeface="Arial MT"/>
              </a:rPr>
              <a:t>de</a:t>
            </a:r>
            <a:r>
              <a:rPr dirty="0" sz="3050" spc="-204">
                <a:latin typeface="Arial MT"/>
                <a:cs typeface="Arial MT"/>
              </a:rPr>
              <a:t> </a:t>
            </a:r>
            <a:r>
              <a:rPr dirty="0" sz="3050" spc="-220">
                <a:latin typeface="Arial MT"/>
                <a:cs typeface="Arial MT"/>
              </a:rPr>
              <a:t>valor </a:t>
            </a:r>
            <a:r>
              <a:rPr dirty="0" sz="3050" spc="-310">
                <a:latin typeface="Arial MT"/>
                <a:cs typeface="Arial MT"/>
              </a:rPr>
              <a:t>ao</a:t>
            </a:r>
            <a:r>
              <a:rPr dirty="0" sz="3050" spc="-85">
                <a:latin typeface="Arial MT"/>
                <a:cs typeface="Arial MT"/>
              </a:rPr>
              <a:t> </a:t>
            </a:r>
            <a:r>
              <a:rPr dirty="0" sz="3050" spc="-155">
                <a:latin typeface="Arial MT"/>
                <a:cs typeface="Arial MT"/>
              </a:rPr>
              <a:t>colaborador.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1700" y="749300"/>
            <a:ext cx="16573500" cy="9004300"/>
            <a:chOff x="901700" y="749300"/>
            <a:chExt cx="16573500" cy="9004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1700" y="749300"/>
              <a:ext cx="16573500" cy="9004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9800" y="2616200"/>
              <a:ext cx="533400" cy="8636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20886" y="2002366"/>
            <a:ext cx="6108700" cy="5001260"/>
          </a:xfrm>
          <a:prstGeom prst="rect">
            <a:avLst/>
          </a:prstGeom>
        </p:spPr>
        <p:txBody>
          <a:bodyPr wrap="square" lIns="0" tIns="390525" rIns="0" bIns="0" rtlCol="0" vert="horz">
            <a:spAutoFit/>
          </a:bodyPr>
          <a:lstStyle/>
          <a:p>
            <a:pPr algn="just" marL="12700" marR="5080" indent="10160">
              <a:lnSpc>
                <a:spcPct val="74300"/>
              </a:lnSpc>
              <a:spcBef>
                <a:spcPts val="3075"/>
              </a:spcBef>
            </a:pPr>
            <a:r>
              <a:rPr dirty="0" sz="8950" spc="35">
                <a:solidFill>
                  <a:srgbClr val="0F0F0F"/>
                </a:solidFill>
                <a:latin typeface="Arial MT"/>
                <a:cs typeface="Arial MT"/>
              </a:rPr>
              <a:t>Lideran</a:t>
            </a:r>
            <a:r>
              <a:rPr dirty="0" sz="8950" spc="24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9550" spc="-640">
                <a:solidFill>
                  <a:srgbClr val="052413"/>
                </a:solidFill>
                <a:latin typeface="Arial MT"/>
                <a:cs typeface="Arial MT"/>
              </a:rPr>
              <a:t>a</a:t>
            </a:r>
            <a:r>
              <a:rPr dirty="0" sz="9550" spc="-710">
                <a:solidFill>
                  <a:srgbClr val="052413"/>
                </a:solidFill>
                <a:latin typeface="Arial MT"/>
                <a:cs typeface="Arial MT"/>
              </a:rPr>
              <a:t> </a:t>
            </a:r>
            <a:r>
              <a:rPr dirty="0" sz="9550" spc="-320">
                <a:solidFill>
                  <a:srgbClr val="031D0F"/>
                </a:solidFill>
                <a:latin typeface="Arial MT"/>
                <a:cs typeface="Arial MT"/>
              </a:rPr>
              <a:t>&amp;</a:t>
            </a:r>
            <a:r>
              <a:rPr dirty="0" sz="9550" spc="-135">
                <a:solidFill>
                  <a:srgbClr val="031D0F"/>
                </a:solidFill>
                <a:latin typeface="Arial MT"/>
                <a:cs typeface="Arial MT"/>
              </a:rPr>
              <a:t> </a:t>
            </a:r>
            <a:r>
              <a:rPr dirty="0" sz="9200" spc="-95">
                <a:solidFill>
                  <a:srgbClr val="131313"/>
                </a:solidFill>
                <a:latin typeface="Arial MT"/>
                <a:cs typeface="Arial MT"/>
              </a:rPr>
              <a:t>Desenvolvi-</a:t>
            </a:r>
            <a:r>
              <a:rPr dirty="0" sz="9650" spc="-5">
                <a:solidFill>
                  <a:srgbClr val="03260C"/>
                </a:solidFill>
                <a:latin typeface="Arial MT"/>
                <a:cs typeface="Arial MT"/>
              </a:rPr>
              <a:t>mento</a:t>
            </a:r>
            <a:endParaRPr sz="9650">
              <a:latin typeface="Arial MT"/>
              <a:cs typeface="Arial MT"/>
            </a:endParaRPr>
          </a:p>
          <a:p>
            <a:pPr algn="just" marL="43180">
              <a:lnSpc>
                <a:spcPts val="3240"/>
              </a:lnSpc>
            </a:pPr>
            <a:r>
              <a:rPr dirty="0" sz="3450" spc="-260">
                <a:latin typeface="Arial MT"/>
                <a:cs typeface="Arial MT"/>
              </a:rPr>
              <a:t>Atuaçáo</a:t>
            </a:r>
            <a:r>
              <a:rPr dirty="0" sz="3450" spc="50">
                <a:latin typeface="Arial MT"/>
                <a:cs typeface="Arial MT"/>
              </a:rPr>
              <a:t> </a:t>
            </a:r>
            <a:r>
              <a:rPr dirty="0" sz="3450" spc="-235">
                <a:latin typeface="Arial MT"/>
                <a:cs typeface="Arial MT"/>
              </a:rPr>
              <a:t>desenvolvida</a:t>
            </a:r>
            <a:r>
              <a:rPr dirty="0" sz="3450" spc="95">
                <a:latin typeface="Arial MT"/>
                <a:cs typeface="Arial MT"/>
              </a:rPr>
              <a:t> </a:t>
            </a:r>
            <a:r>
              <a:rPr dirty="0" sz="3450" spc="-315">
                <a:latin typeface="Arial MT"/>
                <a:cs typeface="Arial MT"/>
              </a:rPr>
              <a:t>em</a:t>
            </a:r>
            <a:r>
              <a:rPr dirty="0" sz="3450" spc="-90"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0A0A0A"/>
                </a:solidFill>
                <a:latin typeface="Arial MT"/>
                <a:cs typeface="Arial MT"/>
              </a:rPr>
              <a:t>todos</a:t>
            </a:r>
            <a:endParaRPr sz="3450">
              <a:latin typeface="Arial MT"/>
              <a:cs typeface="Arial MT"/>
            </a:endParaRPr>
          </a:p>
          <a:p>
            <a:pPr marL="40005" marR="471170">
              <a:lnSpc>
                <a:spcPts val="3700"/>
              </a:lnSpc>
              <a:spcBef>
                <a:spcPts val="270"/>
              </a:spcBef>
            </a:pPr>
            <a:r>
              <a:rPr dirty="0" sz="3450" spc="-254">
                <a:latin typeface="Arial MT"/>
                <a:cs typeface="Arial MT"/>
              </a:rPr>
              <a:t>os</a:t>
            </a:r>
            <a:r>
              <a:rPr dirty="0" sz="3450" spc="-10">
                <a:latin typeface="Arial MT"/>
                <a:cs typeface="Arial MT"/>
              </a:rPr>
              <a:t> </a:t>
            </a:r>
            <a:r>
              <a:rPr dirty="0" sz="3450" spc="-265">
                <a:latin typeface="Arial MT"/>
                <a:cs typeface="Arial MT"/>
              </a:rPr>
              <a:t>níveis,</a:t>
            </a:r>
            <a:r>
              <a:rPr dirty="0" sz="3450" spc="-40">
                <a:latin typeface="Arial MT"/>
                <a:cs typeface="Arial MT"/>
              </a:rPr>
              <a:t> </a:t>
            </a:r>
            <a:r>
              <a:rPr dirty="0" sz="3450" spc="-275">
                <a:latin typeface="Arial MT"/>
                <a:cs typeface="Arial MT"/>
              </a:rPr>
              <a:t>sempre</a:t>
            </a:r>
            <a:r>
              <a:rPr dirty="0" sz="3450" spc="75">
                <a:latin typeface="Arial MT"/>
                <a:cs typeface="Arial MT"/>
              </a:rPr>
              <a:t> </a:t>
            </a:r>
            <a:r>
              <a:rPr dirty="0" sz="3450" spc="-254">
                <a:latin typeface="Arial MT"/>
                <a:cs typeface="Arial MT"/>
              </a:rPr>
              <a:t>conectada</a:t>
            </a:r>
            <a:r>
              <a:rPr dirty="0" sz="3450" spc="300">
                <a:latin typeface="Arial MT"/>
                <a:cs typeface="Arial MT"/>
              </a:rPr>
              <a:t> </a:t>
            </a:r>
            <a:r>
              <a:rPr dirty="0" sz="3450" spc="-285">
                <a:latin typeface="Arial MT"/>
                <a:cs typeface="Arial MT"/>
              </a:rPr>
              <a:t>aos </a:t>
            </a:r>
            <a:r>
              <a:rPr dirty="0" sz="3450" spc="-195">
                <a:latin typeface="Arial MT"/>
                <a:cs typeface="Arial MT"/>
              </a:rPr>
              <a:t>desafios</a:t>
            </a:r>
            <a:r>
              <a:rPr dirty="0" sz="3450" spc="10">
                <a:latin typeface="Arial MT"/>
                <a:cs typeface="Arial MT"/>
              </a:rPr>
              <a:t> </a:t>
            </a:r>
            <a:r>
              <a:rPr dirty="0" sz="3450" spc="-229">
                <a:latin typeface="Arial MT"/>
                <a:cs typeface="Arial MT"/>
              </a:rPr>
              <a:t>reais</a:t>
            </a:r>
            <a:r>
              <a:rPr dirty="0" sz="3450" spc="-50">
                <a:latin typeface="Arial MT"/>
                <a:cs typeface="Arial MT"/>
              </a:rPr>
              <a:t> </a:t>
            </a:r>
            <a:r>
              <a:rPr dirty="0" sz="3450" spc="-254">
                <a:latin typeface="Arial MT"/>
                <a:cs typeface="Arial MT"/>
              </a:rPr>
              <a:t>do</a:t>
            </a:r>
            <a:r>
              <a:rPr dirty="0" sz="3450" spc="-130">
                <a:latin typeface="Arial MT"/>
                <a:cs typeface="Arial MT"/>
              </a:rPr>
              <a:t> </a:t>
            </a:r>
            <a:r>
              <a:rPr dirty="0" sz="3450" spc="-85">
                <a:latin typeface="Arial MT"/>
                <a:cs typeface="Arial MT"/>
              </a:rPr>
              <a:t>negócio.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7802" y="5623983"/>
            <a:ext cx="1786255" cy="117475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algn="ctr" marL="12700" marR="5080" indent="-42545">
              <a:lnSpc>
                <a:spcPct val="79700"/>
              </a:lnSpc>
              <a:spcBef>
                <a:spcPts val="819"/>
              </a:spcBef>
            </a:pPr>
            <a:r>
              <a:rPr dirty="0" sz="2900" spc="-10">
                <a:latin typeface="Arial MT"/>
                <a:cs typeface="Arial MT"/>
              </a:rPr>
              <a:t>Mentoria </a:t>
            </a:r>
            <a:r>
              <a:rPr dirty="0" sz="2900" spc="-50">
                <a:latin typeface="Arial MT"/>
                <a:cs typeface="Arial MT"/>
              </a:rPr>
              <a:t>individual</a:t>
            </a:r>
            <a:r>
              <a:rPr dirty="0" sz="2900" spc="-125">
                <a:latin typeface="Arial MT"/>
                <a:cs typeface="Arial MT"/>
              </a:rPr>
              <a:t> </a:t>
            </a:r>
            <a:r>
              <a:rPr dirty="0" sz="2900" spc="-85">
                <a:solidFill>
                  <a:srgbClr val="0A0A0A"/>
                </a:solidFill>
                <a:latin typeface="Arial MT"/>
                <a:cs typeface="Arial MT"/>
              </a:rPr>
              <a:t>e </a:t>
            </a:r>
            <a:r>
              <a:rPr dirty="0" sz="2900">
                <a:latin typeface="Arial MT"/>
                <a:cs typeface="Arial MT"/>
              </a:rPr>
              <a:t>coie</a:t>
            </a:r>
            <a:r>
              <a:rPr dirty="0" sz="2900" spc="-155">
                <a:latin typeface="Arial MT"/>
                <a:cs typeface="Arial MT"/>
              </a:rPr>
              <a:t> </a:t>
            </a:r>
            <a:r>
              <a:rPr dirty="0" sz="2900" spc="-20">
                <a:latin typeface="Arial MT"/>
                <a:cs typeface="Arial MT"/>
              </a:rPr>
              <a:t>iva.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42223" y="893233"/>
            <a:ext cx="2232025" cy="152590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 marL="12700" marR="5080" indent="69850">
              <a:lnSpc>
                <a:spcPct val="77400"/>
              </a:lnSpc>
              <a:spcBef>
                <a:spcPts val="900"/>
              </a:spcBef>
            </a:pPr>
            <a:r>
              <a:rPr dirty="0" sz="2900" spc="-85">
                <a:latin typeface="Arial MT"/>
                <a:cs typeface="Arial MT"/>
              </a:rPr>
              <a:t>Facilitação</a:t>
            </a:r>
            <a:r>
              <a:rPr dirty="0" sz="2900" spc="-114">
                <a:latin typeface="Arial MT"/>
                <a:cs typeface="Arial MT"/>
              </a:rPr>
              <a:t> </a:t>
            </a:r>
            <a:r>
              <a:rPr dirty="0" sz="2900" spc="-40">
                <a:latin typeface="Arial MT"/>
                <a:cs typeface="Arial MT"/>
              </a:rPr>
              <a:t>de </a:t>
            </a:r>
            <a:r>
              <a:rPr dirty="0" sz="2900" spc="-95">
                <a:latin typeface="Arial MT"/>
                <a:cs typeface="Arial MT"/>
              </a:rPr>
              <a:t>processos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de </a:t>
            </a:r>
            <a:r>
              <a:rPr dirty="0" sz="3100" spc="-200">
                <a:latin typeface="Arial MT"/>
                <a:cs typeface="Arial MT"/>
              </a:rPr>
              <a:t>transformação </a:t>
            </a:r>
            <a:r>
              <a:rPr dirty="0" sz="2950" spc="-185">
                <a:solidFill>
                  <a:srgbClr val="070707"/>
                </a:solidFill>
                <a:latin typeface="Arial MT"/>
                <a:cs typeface="Arial MT"/>
              </a:rPr>
              <a:t>de</a:t>
            </a:r>
            <a:r>
              <a:rPr dirty="0" sz="2950" spc="-195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times.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01845" y="2040113"/>
            <a:ext cx="2461260" cy="1888489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algn="r" marL="12700" marR="5080" indent="784225">
              <a:lnSpc>
                <a:spcPct val="78300"/>
              </a:lnSpc>
              <a:spcBef>
                <a:spcPts val="905"/>
              </a:spcBef>
            </a:pPr>
            <a:r>
              <a:rPr dirty="0" sz="2950" spc="-160">
                <a:latin typeface="Arial MT"/>
                <a:cs typeface="Arial MT"/>
              </a:rPr>
              <a:t>Desenho</a:t>
            </a:r>
            <a:r>
              <a:rPr dirty="0" sz="2950" spc="-30">
                <a:latin typeface="Arial MT"/>
                <a:cs typeface="Arial MT"/>
              </a:rPr>
              <a:t> </a:t>
            </a:r>
            <a:r>
              <a:rPr dirty="0" sz="2950" spc="-150">
                <a:latin typeface="Arial MT"/>
                <a:cs typeface="Arial MT"/>
              </a:rPr>
              <a:t>e </a:t>
            </a:r>
            <a:r>
              <a:rPr dirty="0" sz="3100" spc="-155">
                <a:latin typeface="Arial MT"/>
                <a:cs typeface="Arial MT"/>
              </a:rPr>
              <a:t>implementação </a:t>
            </a:r>
            <a:r>
              <a:rPr dirty="0" sz="2900" spc="-105">
                <a:latin typeface="Arial MT"/>
                <a:cs typeface="Arial MT"/>
              </a:rPr>
              <a:t>de</a:t>
            </a:r>
            <a:r>
              <a:rPr dirty="0" sz="2900" spc="-21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trilhas</a:t>
            </a:r>
            <a:r>
              <a:rPr dirty="0" sz="2900" spc="-130">
                <a:latin typeface="Arial MT"/>
                <a:cs typeface="Arial MT"/>
              </a:rPr>
              <a:t> </a:t>
            </a:r>
            <a:r>
              <a:rPr dirty="0" sz="2900" spc="-25">
                <a:solidFill>
                  <a:srgbClr val="050505"/>
                </a:solidFill>
                <a:latin typeface="Arial MT"/>
                <a:cs typeface="Arial MT"/>
              </a:rPr>
              <a:t>de </a:t>
            </a:r>
            <a:r>
              <a:rPr dirty="0" sz="2900" spc="-10">
                <a:latin typeface="Arial MT"/>
                <a:cs typeface="Arial MT"/>
              </a:rPr>
              <a:t>capacitação </a:t>
            </a:r>
            <a:r>
              <a:rPr dirty="0" sz="2900" spc="-70">
                <a:latin typeface="Arial MT"/>
                <a:cs typeface="Arial MT"/>
              </a:rPr>
              <a:t>sob</a:t>
            </a:r>
            <a:r>
              <a:rPr dirty="0" sz="2900" spc="-114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medida.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41634" y="4506383"/>
            <a:ext cx="1480820" cy="117475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algn="ctr" marL="12065" marR="5080">
              <a:lnSpc>
                <a:spcPct val="79700"/>
              </a:lnSpc>
              <a:spcBef>
                <a:spcPts val="819"/>
              </a:spcBef>
            </a:pPr>
            <a:r>
              <a:rPr dirty="0" sz="2900" spc="-110">
                <a:latin typeface="Arial MT"/>
                <a:cs typeface="Arial MT"/>
              </a:rPr>
              <a:t>Coaching </a:t>
            </a:r>
            <a:r>
              <a:rPr dirty="0" sz="2900" spc="-100">
                <a:latin typeface="Arial MT"/>
                <a:cs typeface="Arial MT"/>
              </a:rPr>
              <a:t>executivo </a:t>
            </a:r>
            <a:r>
              <a:rPr dirty="0" sz="2900" spc="-10">
                <a:latin typeface="Arial MT"/>
                <a:cs typeface="Arial MT"/>
              </a:rPr>
              <a:t>senior.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16748" y="5387975"/>
            <a:ext cx="2419985" cy="190817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algn="ctr" marL="12700" marR="5080" indent="35560">
              <a:lnSpc>
                <a:spcPct val="77900"/>
              </a:lnSpc>
              <a:spcBef>
                <a:spcPts val="944"/>
              </a:spcBef>
            </a:pPr>
            <a:r>
              <a:rPr dirty="0" sz="3100" spc="-290">
                <a:latin typeface="Arial MT"/>
                <a:cs typeface="Arial MT"/>
              </a:rPr>
              <a:t>Desenho</a:t>
            </a:r>
            <a:r>
              <a:rPr dirty="0" sz="3100" spc="170">
                <a:latin typeface="Arial MT"/>
                <a:cs typeface="Arial MT"/>
              </a:rPr>
              <a:t> </a:t>
            </a:r>
            <a:r>
              <a:rPr dirty="0" sz="3100" spc="-310">
                <a:latin typeface="Arial MT"/>
                <a:cs typeface="Arial MT"/>
              </a:rPr>
              <a:t>e </a:t>
            </a:r>
            <a:r>
              <a:rPr dirty="0" sz="3100" spc="-180">
                <a:latin typeface="Arial MT"/>
                <a:cs typeface="Arial MT"/>
              </a:rPr>
              <a:t>implementação </a:t>
            </a:r>
            <a:r>
              <a:rPr dirty="0" sz="2950" spc="-190">
                <a:latin typeface="Arial MT"/>
                <a:cs typeface="Arial MT"/>
              </a:rPr>
              <a:t>de</a:t>
            </a:r>
            <a:r>
              <a:rPr dirty="0" sz="2950" spc="-95">
                <a:latin typeface="Arial MT"/>
                <a:cs typeface="Arial MT"/>
              </a:rPr>
              <a:t> </a:t>
            </a:r>
            <a:r>
              <a:rPr dirty="0" sz="2950" spc="-30">
                <a:latin typeface="Arial MT"/>
                <a:cs typeface="Arial MT"/>
              </a:rPr>
              <a:t>trilhas</a:t>
            </a:r>
            <a:r>
              <a:rPr dirty="0" sz="2950" spc="-130">
                <a:latin typeface="Arial MT"/>
                <a:cs typeface="Arial MT"/>
              </a:rPr>
              <a:t> </a:t>
            </a:r>
            <a:r>
              <a:rPr dirty="0" sz="2950" spc="-35">
                <a:solidFill>
                  <a:srgbClr val="0C0C0C"/>
                </a:solidFill>
                <a:latin typeface="Arial MT"/>
                <a:cs typeface="Arial MT"/>
              </a:rPr>
              <a:t>de </a:t>
            </a:r>
            <a:r>
              <a:rPr dirty="0" sz="2850" spc="-10">
                <a:latin typeface="Arial MT"/>
                <a:cs typeface="Arial MT"/>
              </a:rPr>
              <a:t>capacitação </a:t>
            </a:r>
            <a:r>
              <a:rPr dirty="0" sz="2950" spc="-90">
                <a:latin typeface="Arial MT"/>
                <a:cs typeface="Arial MT"/>
              </a:rPr>
              <a:t>sob</a:t>
            </a:r>
            <a:r>
              <a:rPr dirty="0" sz="2950" spc="-130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medida.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0" y="2857500"/>
            <a:ext cx="14617700" cy="6896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300" y="749300"/>
            <a:ext cx="2413000" cy="2730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0545" y="2983441"/>
            <a:ext cx="7531100" cy="4022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225">
              <a:lnSpc>
                <a:spcPts val="10570"/>
              </a:lnSpc>
              <a:spcBef>
                <a:spcPts val="105"/>
              </a:spcBef>
            </a:pPr>
            <a:r>
              <a:rPr dirty="0" sz="10200" spc="-755">
                <a:solidFill>
                  <a:srgbClr val="131313"/>
                </a:solidFill>
                <a:latin typeface="Arial MT"/>
                <a:cs typeface="Arial MT"/>
              </a:rPr>
              <a:t>Transformação</a:t>
            </a:r>
            <a:endParaRPr sz="10200">
              <a:latin typeface="Arial MT"/>
              <a:cs typeface="Arial MT"/>
            </a:endParaRPr>
          </a:p>
          <a:p>
            <a:pPr marL="12700">
              <a:lnSpc>
                <a:spcPts val="9675"/>
              </a:lnSpc>
            </a:pPr>
            <a:r>
              <a:rPr dirty="0" sz="9700" spc="-200">
                <a:solidFill>
                  <a:srgbClr val="082818"/>
                </a:solidFill>
                <a:latin typeface="Arial MT"/>
                <a:cs typeface="Arial MT"/>
              </a:rPr>
              <a:t>&amp;</a:t>
            </a:r>
            <a:r>
              <a:rPr dirty="0" sz="9700" spc="-1085">
                <a:solidFill>
                  <a:srgbClr val="082818"/>
                </a:solidFill>
                <a:latin typeface="Arial MT"/>
                <a:cs typeface="Arial MT"/>
              </a:rPr>
              <a:t> </a:t>
            </a:r>
            <a:r>
              <a:rPr dirty="0" sz="9700" spc="-590">
                <a:solidFill>
                  <a:srgbClr val="131313"/>
                </a:solidFill>
                <a:latin typeface="Arial MT"/>
                <a:cs typeface="Arial MT"/>
              </a:rPr>
              <a:t>Mudança</a:t>
            </a:r>
            <a:endParaRPr sz="9700">
              <a:latin typeface="Arial MT"/>
              <a:cs typeface="Arial MT"/>
            </a:endParaRPr>
          </a:p>
          <a:p>
            <a:pPr marL="48260" marR="2377440" indent="-3810">
              <a:lnSpc>
                <a:spcPts val="3700"/>
              </a:lnSpc>
              <a:spcBef>
                <a:spcPts val="145"/>
              </a:spcBef>
            </a:pPr>
            <a:r>
              <a:rPr dirty="0" sz="3400" spc="-120">
                <a:latin typeface="Arial MT"/>
                <a:cs typeface="Arial MT"/>
              </a:rPr>
              <a:t>Parceiros</a:t>
            </a:r>
            <a:r>
              <a:rPr dirty="0" sz="3400" spc="-95">
                <a:latin typeface="Arial MT"/>
                <a:cs typeface="Arial MT"/>
              </a:rPr>
              <a:t> </a:t>
            </a:r>
            <a:r>
              <a:rPr dirty="0" sz="3400" spc="-80">
                <a:latin typeface="Arial MT"/>
                <a:cs typeface="Arial MT"/>
              </a:rPr>
              <a:t>estratégicos</a:t>
            </a:r>
            <a:r>
              <a:rPr dirty="0" sz="3400" spc="-140">
                <a:latin typeface="Arial MT"/>
                <a:cs typeface="Arial MT"/>
              </a:rPr>
              <a:t> </a:t>
            </a:r>
            <a:r>
              <a:rPr dirty="0" sz="3400" spc="-25">
                <a:latin typeface="Arial MT"/>
                <a:cs typeface="Arial MT"/>
              </a:rPr>
              <a:t>em </a:t>
            </a:r>
            <a:r>
              <a:rPr dirty="0" sz="3550" spc="-195">
                <a:latin typeface="Arial MT"/>
                <a:cs typeface="Arial MT"/>
              </a:rPr>
              <a:t>processos</a:t>
            </a:r>
            <a:r>
              <a:rPr dirty="0" sz="3550" spc="-25">
                <a:latin typeface="Arial MT"/>
                <a:cs typeface="Arial MT"/>
              </a:rPr>
              <a:t> </a:t>
            </a:r>
            <a:r>
              <a:rPr dirty="0" sz="3550" spc="-320">
                <a:solidFill>
                  <a:srgbClr val="0A0A0A"/>
                </a:solidFill>
                <a:latin typeface="Arial MT"/>
                <a:cs typeface="Arial MT"/>
              </a:rPr>
              <a:t>de</a:t>
            </a:r>
            <a:r>
              <a:rPr dirty="0" sz="3550" spc="-18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3550" spc="-340">
                <a:latin typeface="Arial MT"/>
                <a:cs typeface="Arial MT"/>
              </a:rPr>
              <a:t>transformaşão </a:t>
            </a:r>
            <a:r>
              <a:rPr dirty="0" sz="3550" spc="-190">
                <a:latin typeface="Arial MT"/>
                <a:cs typeface="Arial MT"/>
              </a:rPr>
              <a:t>organizacional</a:t>
            </a:r>
            <a:r>
              <a:rPr dirty="0" sz="3550" spc="25">
                <a:latin typeface="Arial MT"/>
                <a:cs typeface="Arial MT"/>
              </a:rPr>
              <a:t> </a:t>
            </a:r>
            <a:r>
              <a:rPr dirty="0" sz="3550" spc="-45">
                <a:latin typeface="Arial MT"/>
                <a:cs typeface="Arial MT"/>
              </a:rPr>
              <a:t>ampla.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2240" y="1228372"/>
            <a:ext cx="2719070" cy="185102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 marL="12700" marR="5080" indent="18415">
              <a:lnSpc>
                <a:spcPct val="82100"/>
              </a:lnSpc>
              <a:spcBef>
                <a:spcPts val="715"/>
              </a:spcBef>
            </a:pPr>
            <a:r>
              <a:rPr dirty="0" sz="2750" spc="-10">
                <a:latin typeface="Arial MT"/>
                <a:cs typeface="Arial MT"/>
              </a:rPr>
              <a:t>Sustentação</a:t>
            </a:r>
            <a:r>
              <a:rPr dirty="0" sz="2750" spc="-65">
                <a:latin typeface="Arial MT"/>
                <a:cs typeface="Arial MT"/>
              </a:rPr>
              <a:t> </a:t>
            </a:r>
            <a:r>
              <a:rPr dirty="0" sz="2750" spc="-25">
                <a:latin typeface="Arial MT"/>
                <a:cs typeface="Arial MT"/>
              </a:rPr>
              <a:t>de </a:t>
            </a:r>
            <a:r>
              <a:rPr dirty="0" sz="2750" spc="-10">
                <a:latin typeface="Arial MT"/>
                <a:cs typeface="Arial MT"/>
              </a:rPr>
              <a:t>mudanças simultâneas (cultura,</a:t>
            </a:r>
            <a:r>
              <a:rPr dirty="0" sz="2750" spc="-16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estrutura </a:t>
            </a:r>
            <a:r>
              <a:rPr dirty="0" sz="2950" spc="-170">
                <a:latin typeface="Arial MT"/>
                <a:cs typeface="Arial MT"/>
              </a:rPr>
              <a:t>e</a:t>
            </a:r>
            <a:r>
              <a:rPr dirty="0" sz="2950" spc="-80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gestão).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30681" y="7195255"/>
            <a:ext cx="2717165" cy="1205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8255">
              <a:lnSpc>
                <a:spcPts val="3420"/>
              </a:lnSpc>
              <a:spcBef>
                <a:spcPts val="95"/>
              </a:spcBef>
            </a:pPr>
            <a:r>
              <a:rPr dirty="0" sz="3200" spc="-160">
                <a:latin typeface="Arial MT"/>
                <a:cs typeface="Arial MT"/>
              </a:rPr>
              <a:t>Integraçâo</a:t>
            </a:r>
            <a:endParaRPr sz="3200">
              <a:latin typeface="Arial MT"/>
              <a:cs typeface="Arial MT"/>
            </a:endParaRPr>
          </a:p>
          <a:p>
            <a:pPr algn="ctr">
              <a:lnSpc>
                <a:spcPts val="2695"/>
              </a:lnSpc>
            </a:pPr>
            <a:r>
              <a:rPr dirty="0" sz="2900" spc="-155">
                <a:latin typeface="Arial MT"/>
                <a:cs typeface="Arial MT"/>
              </a:rPr>
              <a:t>pós-</a:t>
            </a:r>
            <a:r>
              <a:rPr dirty="0" sz="2900" spc="-110">
                <a:latin typeface="Arial MT"/>
                <a:cs typeface="Arial MT"/>
              </a:rPr>
              <a:t>M&amp;A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130">
                <a:latin typeface="Arial MT"/>
                <a:cs typeface="Arial MT"/>
              </a:rPr>
              <a:t>(Fusões</a:t>
            </a:r>
            <a:endParaRPr sz="2900">
              <a:latin typeface="Arial MT"/>
              <a:cs typeface="Arial MT"/>
            </a:endParaRPr>
          </a:p>
          <a:p>
            <a:pPr algn="ctr" marL="3175">
              <a:lnSpc>
                <a:spcPts val="3175"/>
              </a:lnSpc>
            </a:pPr>
            <a:r>
              <a:rPr dirty="0" sz="2950" spc="-170">
                <a:latin typeface="Arial MT"/>
                <a:cs typeface="Arial MT"/>
              </a:rPr>
              <a:t>e</a:t>
            </a:r>
            <a:r>
              <a:rPr dirty="0" sz="2950" spc="-80">
                <a:latin typeface="Arial MT"/>
                <a:cs typeface="Arial MT"/>
              </a:rPr>
              <a:t> </a:t>
            </a:r>
            <a:r>
              <a:rPr dirty="0" sz="2950" spc="-45">
                <a:latin typeface="Arial MT"/>
                <a:cs typeface="Arial MT"/>
              </a:rPr>
              <a:t>Aquisições).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47634" y="1210733"/>
            <a:ext cx="2243455" cy="151130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just" marL="421640" marR="321945" indent="-59055">
              <a:lnSpc>
                <a:spcPct val="79600"/>
              </a:lnSpc>
              <a:spcBef>
                <a:spcPts val="825"/>
              </a:spcBef>
            </a:pPr>
            <a:r>
              <a:rPr dirty="0" sz="2900" spc="-155">
                <a:latin typeface="Arial MT"/>
                <a:cs typeface="Arial MT"/>
              </a:rPr>
              <a:t>Gestão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114">
                <a:latin typeface="Arial MT"/>
                <a:cs typeface="Arial MT"/>
              </a:rPr>
              <a:t>de </a:t>
            </a:r>
            <a:r>
              <a:rPr dirty="0" sz="2900" spc="-40">
                <a:latin typeface="Arial MT"/>
                <a:cs typeface="Arial MT"/>
              </a:rPr>
              <a:t>mudança </a:t>
            </a:r>
            <a:r>
              <a:rPr dirty="0" sz="2850" spc="-95">
                <a:latin typeface="Arial MT"/>
                <a:cs typeface="Arial MT"/>
              </a:rPr>
              <a:t>em</a:t>
            </a:r>
            <a:r>
              <a:rPr dirty="0" sz="2850" spc="-100">
                <a:latin typeface="Arial MT"/>
                <a:cs typeface="Arial MT"/>
              </a:rPr>
              <a:t> </a:t>
            </a:r>
            <a:r>
              <a:rPr dirty="0" sz="2850" spc="-20">
                <a:latin typeface="Arial MT"/>
                <a:cs typeface="Arial MT"/>
              </a:rPr>
              <a:t>alta</a:t>
            </a:r>
            <a:endParaRPr sz="2850">
              <a:latin typeface="Arial MT"/>
              <a:cs typeface="Arial MT"/>
            </a:endParaRPr>
          </a:p>
          <a:p>
            <a:pPr marL="12700">
              <a:lnSpc>
                <a:spcPts val="2710"/>
              </a:lnSpc>
            </a:pPr>
            <a:r>
              <a:rPr dirty="0" sz="2900" spc="-100">
                <a:latin typeface="Arial MT"/>
                <a:cs typeface="Arial MT"/>
              </a:rPr>
              <a:t>complexidade.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78826" y="7546975"/>
            <a:ext cx="2112010" cy="120015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algn="ctr" marL="12700" marR="5080">
              <a:lnSpc>
                <a:spcPct val="73900"/>
              </a:lnSpc>
              <a:spcBef>
                <a:spcPts val="1095"/>
              </a:spcBef>
            </a:pPr>
            <a:r>
              <a:rPr dirty="0" sz="3100" spc="-240">
                <a:latin typeface="Arial MT"/>
                <a:cs typeface="Arial MT"/>
              </a:rPr>
              <a:t>Comunicação </a:t>
            </a:r>
            <a:r>
              <a:rPr dirty="0" sz="3100" spc="-60">
                <a:latin typeface="Arial MT"/>
                <a:cs typeface="Arial MT"/>
              </a:rPr>
              <a:t>interna </a:t>
            </a:r>
            <a:r>
              <a:rPr dirty="0" sz="3100" spc="-110">
                <a:latin typeface="Arial MT"/>
                <a:cs typeface="Arial MT"/>
              </a:rPr>
              <a:t>estratégica.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4965700"/>
            <a:ext cx="17462500" cy="1231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2400" y="3594100"/>
            <a:ext cx="2590800" cy="990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4200" y="3594100"/>
            <a:ext cx="2209800" cy="990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59600" y="3594100"/>
            <a:ext cx="711200" cy="749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78800" y="2171700"/>
            <a:ext cx="635000" cy="749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93700" y="1892300"/>
            <a:ext cx="2120900" cy="2921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222500" y="1943100"/>
            <a:ext cx="5588000" cy="965200"/>
          </a:xfrm>
          <a:custGeom>
            <a:avLst/>
            <a:gdLst/>
            <a:ahLst/>
            <a:cxnLst/>
            <a:rect l="l" t="t" r="r" b="b"/>
            <a:pathLst>
              <a:path w="5588000" h="965200">
                <a:moveTo>
                  <a:pt x="5588000" y="965200"/>
                </a:moveTo>
                <a:lnTo>
                  <a:pt x="0" y="965200"/>
                </a:lnTo>
                <a:lnTo>
                  <a:pt x="0" y="0"/>
                </a:lnTo>
                <a:lnTo>
                  <a:pt x="5588000" y="0"/>
                </a:lnTo>
                <a:lnTo>
                  <a:pt x="5588000" y="965200"/>
                </a:lnTo>
                <a:close/>
              </a:path>
            </a:pathLst>
          </a:custGeom>
          <a:solidFill>
            <a:srgbClr val="1C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03160" y="1515885"/>
            <a:ext cx="5567680" cy="166623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750" spc="-220">
                <a:solidFill>
                  <a:srgbClr val="FFFFFF"/>
                </a:solidFill>
                <a:latin typeface="Arial MT"/>
                <a:cs typeface="Arial MT"/>
              </a:rPr>
              <a:t>Tratamos</a:t>
            </a:r>
            <a:endParaRPr sz="107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71700" y="3594100"/>
            <a:ext cx="1828800" cy="736600"/>
          </a:xfrm>
          <a:custGeom>
            <a:avLst/>
            <a:gdLst/>
            <a:ahLst/>
            <a:cxnLst/>
            <a:rect l="l" t="t" r="r" b="b"/>
            <a:pathLst>
              <a:path w="1828800" h="736600">
                <a:moveTo>
                  <a:pt x="1828800" y="736600"/>
                </a:moveTo>
                <a:lnTo>
                  <a:pt x="0" y="736600"/>
                </a:lnTo>
                <a:lnTo>
                  <a:pt x="0" y="0"/>
                </a:lnTo>
                <a:lnTo>
                  <a:pt x="1828800" y="0"/>
                </a:lnTo>
                <a:lnTo>
                  <a:pt x="1828800" y="736600"/>
                </a:lnTo>
                <a:close/>
              </a:path>
            </a:pathLst>
          </a:custGeom>
          <a:solidFill>
            <a:srgbClr val="1A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94300" y="3594100"/>
            <a:ext cx="1397000" cy="736600"/>
          </a:xfrm>
          <a:custGeom>
            <a:avLst/>
            <a:gdLst/>
            <a:ahLst/>
            <a:cxnLst/>
            <a:rect l="l" t="t" r="r" b="b"/>
            <a:pathLst>
              <a:path w="1397000" h="736600">
                <a:moveTo>
                  <a:pt x="1397000" y="736600"/>
                </a:moveTo>
                <a:lnTo>
                  <a:pt x="0" y="736600"/>
                </a:lnTo>
                <a:lnTo>
                  <a:pt x="0" y="0"/>
                </a:lnTo>
                <a:lnTo>
                  <a:pt x="1397000" y="0"/>
                </a:lnTo>
                <a:lnTo>
                  <a:pt x="1397000" y="736600"/>
                </a:lnTo>
                <a:close/>
              </a:path>
            </a:pathLst>
          </a:custGeom>
          <a:solidFill>
            <a:srgbClr val="1A49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51200" y="5207000"/>
            <a:ext cx="2578100" cy="736600"/>
          </a:xfrm>
          <a:custGeom>
            <a:avLst/>
            <a:gdLst/>
            <a:ahLst/>
            <a:cxnLst/>
            <a:rect l="l" t="t" r="r" b="b"/>
            <a:pathLst>
              <a:path w="2578100" h="736600">
                <a:moveTo>
                  <a:pt x="2578100" y="736600"/>
                </a:moveTo>
                <a:lnTo>
                  <a:pt x="0" y="736600"/>
                </a:lnTo>
                <a:lnTo>
                  <a:pt x="0" y="0"/>
                </a:lnTo>
                <a:lnTo>
                  <a:pt x="2578100" y="0"/>
                </a:lnTo>
                <a:lnTo>
                  <a:pt x="2578100" y="736600"/>
                </a:lnTo>
                <a:close/>
              </a:path>
            </a:pathLst>
          </a:custGeom>
          <a:solidFill>
            <a:srgbClr val="1C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94800" y="2171700"/>
            <a:ext cx="3479800" cy="736600"/>
          </a:xfrm>
          <a:custGeom>
            <a:avLst/>
            <a:gdLst/>
            <a:ahLst/>
            <a:cxnLst/>
            <a:rect l="l" t="t" r="r" b="b"/>
            <a:pathLst>
              <a:path w="3479800" h="736600">
                <a:moveTo>
                  <a:pt x="3479800" y="736600"/>
                </a:moveTo>
                <a:lnTo>
                  <a:pt x="0" y="736600"/>
                </a:lnTo>
                <a:lnTo>
                  <a:pt x="0" y="0"/>
                </a:lnTo>
                <a:lnTo>
                  <a:pt x="3479800" y="0"/>
                </a:lnTo>
                <a:lnTo>
                  <a:pt x="3479800" y="736600"/>
                </a:lnTo>
                <a:close/>
              </a:path>
            </a:pathLst>
          </a:custGeom>
          <a:solidFill>
            <a:srgbClr val="1A4D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26400" y="3314700"/>
            <a:ext cx="8039100" cy="1016000"/>
          </a:xfrm>
          <a:custGeom>
            <a:avLst/>
            <a:gdLst/>
            <a:ahLst/>
            <a:cxnLst/>
            <a:rect l="l" t="t" r="r" b="b"/>
            <a:pathLst>
              <a:path w="8039100" h="1016000">
                <a:moveTo>
                  <a:pt x="80391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8039100" y="0"/>
                </a:lnTo>
                <a:lnTo>
                  <a:pt x="8039100" y="1016000"/>
                </a:lnTo>
                <a:close/>
              </a:path>
            </a:pathLst>
          </a:custGeom>
          <a:solidFill>
            <a:srgbClr val="1A4B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56400" y="5029200"/>
            <a:ext cx="7556500" cy="1155700"/>
          </a:xfrm>
          <a:custGeom>
            <a:avLst/>
            <a:gdLst/>
            <a:ahLst/>
            <a:cxnLst/>
            <a:rect l="l" t="t" r="r" b="b"/>
            <a:pathLst>
              <a:path w="7556500" h="1155700">
                <a:moveTo>
                  <a:pt x="7556500" y="1155700"/>
                </a:moveTo>
                <a:lnTo>
                  <a:pt x="0" y="1155700"/>
                </a:lnTo>
                <a:lnTo>
                  <a:pt x="0" y="0"/>
                </a:lnTo>
                <a:lnTo>
                  <a:pt x="7556500" y="0"/>
                </a:lnTo>
                <a:lnTo>
                  <a:pt x="7556500" y="1155700"/>
                </a:lnTo>
                <a:close/>
              </a:path>
            </a:pathLst>
          </a:custGeom>
          <a:solidFill>
            <a:srgbClr val="1A4B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660900" y="6261100"/>
            <a:ext cx="8128000" cy="1257300"/>
          </a:xfrm>
          <a:custGeom>
            <a:avLst/>
            <a:gdLst/>
            <a:ahLst/>
            <a:cxnLst/>
            <a:rect l="l" t="t" r="r" b="b"/>
            <a:pathLst>
              <a:path w="8128000" h="1257300">
                <a:moveTo>
                  <a:pt x="81280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8128000" y="0"/>
                </a:lnTo>
                <a:lnTo>
                  <a:pt x="8128000" y="1257300"/>
                </a:lnTo>
                <a:close/>
              </a:path>
            </a:pathLst>
          </a:custGeom>
          <a:solidFill>
            <a:srgbClr val="1A4B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34676" y="2920647"/>
            <a:ext cx="13949680" cy="4631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665"/>
              </a:lnSpc>
              <a:spcBef>
                <a:spcPts val="100"/>
              </a:spcBef>
              <a:tabLst>
                <a:tab pos="2983865" algn="l"/>
                <a:tab pos="5861685" algn="l"/>
              </a:tabLst>
            </a:pPr>
            <a:r>
              <a:rPr dirty="0" sz="10800" spc="-345">
                <a:solidFill>
                  <a:srgbClr val="FFFFFF"/>
                </a:solidFill>
                <a:latin typeface="Arial MT"/>
                <a:cs typeface="Arial MT"/>
              </a:rPr>
              <a:t>ara</a:t>
            </a:r>
            <a:r>
              <a:rPr dirty="0" sz="108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0800" spc="-25">
                <a:solidFill>
                  <a:srgbClr val="FFFFFF"/>
                </a:solidFill>
                <a:latin typeface="Arial MT"/>
                <a:cs typeface="Arial MT"/>
              </a:rPr>
              <a:t>ue</a:t>
            </a:r>
            <a:r>
              <a:rPr dirty="0" sz="108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0900">
                <a:solidFill>
                  <a:srgbClr val="FFFFFF"/>
                </a:solidFill>
                <a:latin typeface="Arial MT"/>
                <a:cs typeface="Arial MT"/>
              </a:rPr>
              <a:t>sistema</a:t>
            </a:r>
            <a:r>
              <a:rPr dirty="0" sz="10900" spc="-5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900" spc="65">
                <a:solidFill>
                  <a:srgbClr val="FFFFFF"/>
                </a:solidFill>
                <a:latin typeface="Arial MT"/>
                <a:cs typeface="Arial MT"/>
              </a:rPr>
              <a:t>volte</a:t>
            </a:r>
            <a:endParaRPr sz="10900">
              <a:latin typeface="Arial MT"/>
              <a:cs typeface="Arial MT"/>
            </a:endParaRPr>
          </a:p>
          <a:p>
            <a:pPr algn="ctr" marR="686435">
              <a:lnSpc>
                <a:spcPts val="11860"/>
              </a:lnSpc>
            </a:pPr>
            <a:r>
              <a:rPr dirty="0" sz="11250" spc="-505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1250" spc="-3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25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11250" spc="7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10550" spc="185">
                <a:solidFill>
                  <a:srgbClr val="FFFFFF"/>
                </a:solidFill>
                <a:latin typeface="Arial MT"/>
                <a:cs typeface="Arial MT"/>
              </a:rPr>
              <a:t>ar</a:t>
            </a:r>
            <a:r>
              <a:rPr dirty="0" sz="105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50" spc="500">
                <a:solidFill>
                  <a:srgbClr val="FFFFFF"/>
                </a:solidFill>
                <a:latin typeface="Arial MT"/>
                <a:cs typeface="Arial MT"/>
              </a:rPr>
              <a:t>por</a:t>
            </a:r>
            <a:r>
              <a:rPr dirty="0" sz="105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50" spc="240">
                <a:solidFill>
                  <a:srgbClr val="FFFFFF"/>
                </a:solidFill>
                <a:latin typeface="Arial MT"/>
                <a:cs typeface="Arial MT"/>
              </a:rPr>
              <a:t>conta</a:t>
            </a:r>
            <a:endParaRPr sz="10550">
              <a:latin typeface="Arial MT"/>
              <a:cs typeface="Arial MT"/>
            </a:endParaRPr>
          </a:p>
          <a:p>
            <a:pPr algn="ctr" marR="788035">
              <a:lnSpc>
                <a:spcPts val="11735"/>
              </a:lnSpc>
            </a:pPr>
            <a:r>
              <a:rPr dirty="0" sz="10800" spc="445">
                <a:solidFill>
                  <a:srgbClr val="FFFFFF"/>
                </a:solidFill>
                <a:latin typeface="Calibri"/>
                <a:cs typeface="Calibri"/>
              </a:rPr>
              <a:t>conta</a:t>
            </a:r>
            <a:r>
              <a:rPr dirty="0" sz="10800" spc="-3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800" spc="-10">
                <a:solidFill>
                  <a:srgbClr val="FFFFFF"/>
                </a:solidFill>
                <a:latin typeface="Calibri"/>
                <a:cs typeface="Calibri"/>
              </a:rPr>
              <a:t>própria.</a:t>
            </a:r>
            <a:endParaRPr sz="10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093700" y="2171700"/>
            <a:ext cx="2108200" cy="736600"/>
          </a:xfrm>
          <a:custGeom>
            <a:avLst/>
            <a:gdLst/>
            <a:ahLst/>
            <a:cxnLst/>
            <a:rect l="l" t="t" r="r" b="b"/>
            <a:pathLst>
              <a:path w="2108200" h="736600">
                <a:moveTo>
                  <a:pt x="2108200" y="736600"/>
                </a:moveTo>
                <a:lnTo>
                  <a:pt x="0" y="736600"/>
                </a:lnTo>
                <a:lnTo>
                  <a:pt x="0" y="0"/>
                </a:lnTo>
                <a:lnTo>
                  <a:pt x="2108200" y="0"/>
                </a:lnTo>
                <a:lnTo>
                  <a:pt x="2108200" y="736600"/>
                </a:lnTo>
                <a:close/>
              </a:path>
            </a:pathLst>
          </a:custGeom>
          <a:solidFill>
            <a:srgbClr val="1A42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9141745" y="1427691"/>
            <a:ext cx="6040120" cy="17716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700" spc="-175">
                <a:solidFill>
                  <a:srgbClr val="FFFFFF"/>
                </a:solidFill>
                <a:latin typeface="Arial MT"/>
                <a:cs typeface="Arial MT"/>
              </a:rPr>
              <a:t>causa</a:t>
            </a:r>
            <a:r>
              <a:rPr dirty="0" sz="10700" spc="-5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450" spc="-390">
                <a:solidFill>
                  <a:srgbClr val="FFFFFF"/>
                </a:solidFill>
                <a:latin typeface="Arial MT"/>
                <a:cs typeface="Arial MT"/>
              </a:rPr>
              <a:t>raiz</a:t>
            </a:r>
            <a:endParaRPr sz="114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700" y="7785100"/>
            <a:ext cx="17449800" cy="495300"/>
          </a:xfrm>
          <a:custGeom>
            <a:avLst/>
            <a:gdLst/>
            <a:ahLst/>
            <a:cxnLst/>
            <a:rect l="l" t="t" r="r" b="b"/>
            <a:pathLst>
              <a:path w="17449800" h="495300">
                <a:moveTo>
                  <a:pt x="17449800" y="495300"/>
                </a:moveTo>
                <a:lnTo>
                  <a:pt x="0" y="4953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95300"/>
                </a:lnTo>
                <a:close/>
              </a:path>
            </a:pathLst>
          </a:custGeom>
          <a:solidFill>
            <a:srgbClr val="1A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054461" y="7571316"/>
            <a:ext cx="11312525" cy="723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50" spc="-505">
                <a:solidFill>
                  <a:srgbClr val="F9F9F9"/>
                </a:solidFill>
                <a:latin typeface="Arial MT"/>
                <a:cs typeface="Arial MT"/>
              </a:rPr>
              <a:t>Näo</a:t>
            </a:r>
            <a:r>
              <a:rPr dirty="0" sz="4550" spc="-18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dirty="0" sz="4550" spc="-365">
                <a:solidFill>
                  <a:srgbClr val="FFFFFF"/>
                </a:solidFill>
                <a:latin typeface="Arial MT"/>
                <a:cs typeface="Arial MT"/>
              </a:rPr>
              <a:t>criamos</a:t>
            </a:r>
            <a:r>
              <a:rPr dirty="0" sz="45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50" spc="-395">
                <a:solidFill>
                  <a:srgbClr val="FFFFFF"/>
                </a:solidFill>
                <a:latin typeface="Arial MT"/>
                <a:cs typeface="Arial MT"/>
              </a:rPr>
              <a:t>dependencia.</a:t>
            </a:r>
            <a:r>
              <a:rPr dirty="0" sz="4550" spc="2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50" spc="-375">
                <a:solidFill>
                  <a:srgbClr val="FFFFFF"/>
                </a:solidFill>
                <a:latin typeface="Arial MT"/>
                <a:cs typeface="Arial MT"/>
              </a:rPr>
              <a:t>Construimos</a:t>
            </a:r>
            <a:r>
              <a:rPr dirty="0" sz="455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50" spc="-400">
                <a:solidFill>
                  <a:srgbClr val="FFFFFF"/>
                </a:solidFill>
                <a:latin typeface="Arial MT"/>
                <a:cs typeface="Arial MT"/>
              </a:rPr>
              <a:t>autonomia.</a:t>
            </a:r>
            <a:endParaRPr sz="45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700" y="9499600"/>
            <a:ext cx="17462500" cy="127000"/>
            <a:chOff x="12700" y="9499600"/>
            <a:chExt cx="17462500" cy="1270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00" y="9499600"/>
              <a:ext cx="17462500" cy="127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00" y="9499600"/>
              <a:ext cx="17462500" cy="127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600" y="2476500"/>
            <a:ext cx="2349500" cy="17907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dirty="0" spc="95"/>
              <a:t>Vivaz.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70958" y="6198658"/>
            <a:ext cx="9878060" cy="946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50" spc="215">
                <a:solidFill>
                  <a:srgbClr val="154838"/>
                </a:solidFill>
                <a:latin typeface="Calibri"/>
                <a:cs typeface="Calibri"/>
              </a:rPr>
              <a:t>Pessoas</a:t>
            </a:r>
            <a:r>
              <a:rPr dirty="0" sz="6050" spc="270">
                <a:solidFill>
                  <a:srgbClr val="154838"/>
                </a:solidFill>
                <a:latin typeface="Calibri"/>
                <a:cs typeface="Calibri"/>
              </a:rPr>
              <a:t> </a:t>
            </a:r>
            <a:r>
              <a:rPr dirty="0" sz="6050">
                <a:solidFill>
                  <a:srgbClr val="15443A"/>
                </a:solidFill>
                <a:latin typeface="Calibri"/>
                <a:cs typeface="Calibri"/>
              </a:rPr>
              <a:t>que</a:t>
            </a:r>
            <a:r>
              <a:rPr dirty="0" sz="6050" spc="175">
                <a:solidFill>
                  <a:srgbClr val="15443A"/>
                </a:solidFill>
                <a:latin typeface="Calibri"/>
                <a:cs typeface="Calibri"/>
              </a:rPr>
              <a:t> </a:t>
            </a:r>
            <a:r>
              <a:rPr dirty="0" sz="6050">
                <a:solidFill>
                  <a:srgbClr val="18483A"/>
                </a:solidFill>
                <a:latin typeface="Calibri"/>
                <a:cs typeface="Calibri"/>
              </a:rPr>
              <a:t>movem</a:t>
            </a:r>
            <a:r>
              <a:rPr dirty="0" sz="6050" spc="465">
                <a:solidFill>
                  <a:srgbClr val="18483A"/>
                </a:solidFill>
                <a:latin typeface="Calibri"/>
                <a:cs typeface="Calibri"/>
              </a:rPr>
              <a:t> </a:t>
            </a:r>
            <a:r>
              <a:rPr dirty="0" sz="6050" spc="-10">
                <a:solidFill>
                  <a:srgbClr val="164234"/>
                </a:solidFill>
                <a:latin typeface="Calibri"/>
                <a:cs typeface="Calibri"/>
              </a:rPr>
              <a:t>sistemas.</a:t>
            </a:r>
            <a:endParaRPr sz="6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07922" y="8762647"/>
            <a:ext cx="2808605" cy="681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785">
              <a:lnSpc>
                <a:spcPct val="100000"/>
              </a:lnSpc>
              <a:spcBef>
                <a:spcPts val="100"/>
              </a:spcBef>
              <a:tabLst>
                <a:tab pos="2078989" algn="l"/>
              </a:tabLst>
            </a:pPr>
            <a:r>
              <a:rPr dirty="0" sz="2150" spc="70">
                <a:solidFill>
                  <a:srgbClr val="181818"/>
                </a:solidFill>
                <a:latin typeface="Calibri"/>
                <a:cs typeface="Calibri"/>
              </a:rPr>
              <a:t>VIVAZ</a:t>
            </a:r>
            <a:r>
              <a:rPr dirty="0" sz="2150">
                <a:solidFill>
                  <a:srgbClr val="181818"/>
                </a:solidFill>
                <a:latin typeface="Calibri"/>
                <a:cs typeface="Calibri"/>
              </a:rPr>
              <a:t>	</a:t>
            </a:r>
            <a:r>
              <a:rPr dirty="0" sz="2150" spc="130">
                <a:solidFill>
                  <a:srgbClr val="111111"/>
                </a:solidFill>
                <a:latin typeface="Calibri"/>
                <a:cs typeface="Calibri"/>
              </a:rPr>
              <a:t>2026.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72565" algn="l"/>
              </a:tabLst>
            </a:pPr>
            <a:r>
              <a:rPr dirty="0" sz="2050" spc="90">
                <a:solidFill>
                  <a:srgbClr val="161616"/>
                </a:solidFill>
                <a:latin typeface="Calibri"/>
                <a:cs typeface="Calibri"/>
              </a:rPr>
              <a:t>[Linkedln]</a:t>
            </a:r>
            <a:r>
              <a:rPr dirty="0" sz="2050">
                <a:solidFill>
                  <a:srgbClr val="161616"/>
                </a:solidFill>
                <a:latin typeface="Calibri"/>
                <a:cs typeface="Calibri"/>
              </a:rPr>
              <a:t>	</a:t>
            </a:r>
            <a:r>
              <a:rPr dirty="0" sz="2050" spc="75">
                <a:solidFill>
                  <a:srgbClr val="151515"/>
                </a:solidFill>
                <a:latin typeface="Calibri"/>
                <a:cs typeface="Calibri"/>
              </a:rPr>
              <a:t>[Website]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90822" y="9101666"/>
            <a:ext cx="96456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100">
                <a:solidFill>
                  <a:srgbClr val="131313"/>
                </a:solidFill>
                <a:latin typeface="Calibri"/>
                <a:cs typeface="Calibri"/>
              </a:rPr>
              <a:t>[E-mail]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2026-08-09T15:51:35Z</dcterms:created>
  <dcterms:modified xsi:type="dcterms:W3CDTF">2026-08-09T15:51:35Z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2026-08-09T00:00:00Z</vt:filetime>
  </property>
  <property fmtid="{D5CDD505-2E9C-101B-9397-08002B2CF9AE}" pid="4" name="LastSaved">
    <vt:filetime>2026-08-09T00:00:00Z</vt:filetime>
  </property>
</Properties>
</file>