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61" r:id="rId7"/>
    <p:sldId id="262" r:id="rId8"/>
    <p:sldId id="265" r:id="rId9"/>
    <p:sldId id="267" r:id="rId10"/>
    <p:sldId id="268" r:id="rId11"/>
  </p:sldIdLst>
  <p:sldSz cx="32499300" cy="18288000"/>
  <p:notesSz cx="6858000" cy="9144000"/>
  <p:embeddedFontLst>
    <p:embeddedFont>
      <p:font typeface="Lato" panose="020F0502020204030203" pitchFamily="34" charset="0"/>
      <p:regular r:id="rId12"/>
      <p:bold r:id="rId13"/>
      <p:italic r:id="rId14"/>
    </p:embeddedFont>
    <p:embeddedFont>
      <p:font typeface="Lato Bold" panose="020F0502020204030203" charset="0"/>
      <p:bold r:id="rId15"/>
    </p:embeddedFont>
    <p:embeddedFont>
      <p:font typeface="Lato regular" panose="020F0502020204030203" pitchFamily="34" charset="0"/>
      <p:regular r:id="rId16"/>
    </p:embeddedFont>
    <p:embeddedFont>
      <p:font typeface="Montserrat SemiBold" panose="00000700000000000000" pitchFamily="2" charset="0"/>
      <p:bold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D4E"/>
    <a:srgbClr val="C26D53"/>
    <a:srgbClr val="FFFFFF"/>
    <a:srgbClr val="333F48"/>
    <a:srgbClr val="A3B18A"/>
    <a:srgbClr val="D6D2C4"/>
    <a:srgbClr val="FA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1" d="100"/>
          <a:sy n="21" d="100"/>
        </p:scale>
        <p:origin x="992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ângela Forti Chitero" userId="ea8ed6945a5c4bcd" providerId="LiveId" clId="{1FF757A0-1C49-4578-AC35-6DC1634A6B22}"/>
    <pc:docChg chg="modSld">
      <pc:chgData name="Elisângela Forti Chitero" userId="ea8ed6945a5c4bcd" providerId="LiveId" clId="{1FF757A0-1C49-4578-AC35-6DC1634A6B22}" dt="2026-08-04T08:52:25.415" v="0" actId="1076"/>
      <pc:docMkLst>
        <pc:docMk/>
      </pc:docMkLst>
      <pc:sldChg chg="modSp mod">
        <pc:chgData name="Elisângela Forti Chitero" userId="ea8ed6945a5c4bcd" providerId="LiveId" clId="{1FF757A0-1C49-4578-AC35-6DC1634A6B22}" dt="2026-08-04T08:52:25.415" v="0" actId="1076"/>
        <pc:sldMkLst>
          <pc:docMk/>
          <pc:sldMk cId="0" sldId="256"/>
        </pc:sldMkLst>
        <pc:spChg chg="mod">
          <ac:chgData name="Elisângela Forti Chitero" userId="ea8ed6945a5c4bcd" providerId="LiveId" clId="{1FF757A0-1C49-4578-AC35-6DC1634A6B22}" dt="2026-08-04T08:52:25.415" v="0" actId="1076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731" y="32084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6"/>
            </a:solid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" name="Freeform 4"/>
          <p:cNvSpPr/>
          <p:nvPr/>
        </p:nvSpPr>
        <p:spPr>
          <a:xfrm>
            <a:off x="-971550" y="13332"/>
            <a:ext cx="15722484" cy="8575900"/>
          </a:xfrm>
          <a:custGeom>
            <a:avLst/>
            <a:gdLst/>
            <a:ahLst/>
            <a:cxnLst/>
            <a:rect l="l" t="t" r="r" b="b"/>
            <a:pathLst>
              <a:path w="15722484" h="8575900">
                <a:moveTo>
                  <a:pt x="0" y="0"/>
                </a:moveTo>
                <a:lnTo>
                  <a:pt x="15722484" y="0"/>
                </a:lnTo>
                <a:lnTo>
                  <a:pt x="15722484" y="8575900"/>
                </a:lnTo>
                <a:lnTo>
                  <a:pt x="0" y="8575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12363450" y="656208"/>
            <a:ext cx="15540540" cy="8482683"/>
          </a:xfrm>
          <a:custGeom>
            <a:avLst/>
            <a:gdLst/>
            <a:ahLst/>
            <a:cxnLst/>
            <a:rect l="l" t="t" r="r" b="b"/>
            <a:pathLst>
              <a:path w="15540540" h="8482683">
                <a:moveTo>
                  <a:pt x="0" y="0"/>
                </a:moveTo>
                <a:lnTo>
                  <a:pt x="15540540" y="0"/>
                </a:lnTo>
                <a:lnTo>
                  <a:pt x="15540540" y="8482683"/>
                </a:lnTo>
                <a:lnTo>
                  <a:pt x="0" y="8482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8CBD08-116A-8BBB-4E3F-A5431D9E6311}"/>
              </a:ext>
            </a:extLst>
          </p:cNvPr>
          <p:cNvSpPr txBox="1"/>
          <p:nvPr/>
        </p:nvSpPr>
        <p:spPr>
          <a:xfrm>
            <a:off x="781050" y="589546"/>
            <a:ext cx="118605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600" dirty="0">
                <a:latin typeface="Montserrat SemiBold" panose="00000700000000000000" pitchFamily="2" charset="0"/>
              </a:rPr>
              <a:t>LOGO</a:t>
            </a:r>
            <a:endParaRPr lang="pt-PT" sz="2800" dirty="0">
              <a:latin typeface="Montserrat SemiBold" panose="00000700000000000000" pitchFamily="2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C5D32B-C365-C4A2-6DB9-210B3EA5A3BF}"/>
              </a:ext>
            </a:extLst>
          </p:cNvPr>
          <p:cNvSpPr txBox="1"/>
          <p:nvPr/>
        </p:nvSpPr>
        <p:spPr>
          <a:xfrm>
            <a:off x="656254" y="8534400"/>
            <a:ext cx="31186791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4000" b="1" dirty="0">
                <a:latin typeface="Montserrat SemiBold" panose="000007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Proposta A: O Fluxo Humano (Acolhedora &amp; Sólida)</a:t>
            </a:r>
          </a:p>
          <a:p>
            <a:pPr>
              <a:buNone/>
            </a:pPr>
            <a:r>
              <a:rPr lang="pt-PT" sz="30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Foco na interconexão, crescimento orgânico e presença moderna.</a:t>
            </a:r>
          </a:p>
          <a:p>
            <a:pPr>
              <a:buNone/>
            </a:pPr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pt-PT" sz="3000" b="1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 Símbolo:</a:t>
            </a:r>
            <a:r>
              <a:rPr lang="pt-PT" sz="30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Ícone de três linhas fluidas que se entrelaçam. O desenho remete a rios ou fibras naturais, </a:t>
            </a:r>
            <a:r>
              <a:rPr lang="pt-PT" sz="3200" dirty="0"/>
              <a:t>lembrando tanto o movimento da água quanto a silhueta de uma folha. As linhas não têm pontas agudas; elas terminam em curvas suaves, sugerindo que a consultoria é um processo contínuo e adaptável. S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imboliza a integração entre o bem-estar dos colaboradores e os objetivos da empresa. As curvas transmitem empatia e maleabilidade, essenciais para uma consultoria de RH humana.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0128B9E-3D64-1B81-565D-9EB8748623AE}"/>
              </a:ext>
            </a:extLst>
          </p:cNvPr>
          <p:cNvSpPr txBox="1"/>
          <p:nvPr/>
        </p:nvSpPr>
        <p:spPr>
          <a:xfrm>
            <a:off x="656254" y="11615678"/>
            <a:ext cx="31699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Tipografia (Montserrat):</a:t>
            </a:r>
          </a:p>
          <a:p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Nome principal "VIVAZ":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Em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Montserrat </a:t>
            </a:r>
            <a:r>
              <a:rPr lang="pt-PT" sz="3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SemiBold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ou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Bold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O uso de uma fonte </a:t>
            </a:r>
            <a:r>
              <a:rPr lang="pt-PT" sz="3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sans-serif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(sem serifa) geométrica traz um ar de inovação e clareza. Ela comunica que, embora a consultoria seja acolhedora, ela é estruturada, profissional e atual.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Como a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Montserrat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tem uma estrutura bem geométrica e marcante, a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Lato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entra para suavizar o visual, pois ela é uma fonte "humanista" — ou seja, possui curvas que imitam o fluxo da escrita humana, o que casa perfeitamente com a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Proposta A (O Fluxo Humano)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D8EF395-5A3B-54E4-2498-85E3222A92EA}"/>
              </a:ext>
            </a:extLst>
          </p:cNvPr>
          <p:cNvSpPr txBox="1"/>
          <p:nvPr/>
        </p:nvSpPr>
        <p:spPr>
          <a:xfrm>
            <a:off x="781050" y="14644264"/>
            <a:ext cx="316992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Paleta de Cores:</a:t>
            </a:r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Verde-água profundo: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Cor principal da tipografia e das linhas principais do símbolo (transmite calma e profundidade).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Terracota: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Usado em uma das linhas entrelaçadas do símbolo para trazer o "calor humano" e a conexão com a terra/base.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30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Off-white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cor de fundo que evita o contraste agressivo do branco puro, mantendo a sensação de "Boutique de Cuidado".</a:t>
            </a:r>
          </a:p>
          <a:p>
            <a:pPr lvl="1"/>
            <a:endParaRPr lang="pt-PT" sz="3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Sensação Final: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marca é </a:t>
            </a:r>
            <a:r>
              <a:rPr lang="pt-PT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"Contemporânea/Humanística"</a:t>
            </a:r>
            <a:r>
              <a:rPr lang="pt-PT" sz="3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É a imagem de uma consultoria que utiliza metodologias modernas e sólidas para promover um ambiente de trabalho vibrante e saudável.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7387710-6C17-4D19-D6CD-5EBB52A53C7B}"/>
              </a:ext>
            </a:extLst>
          </p:cNvPr>
          <p:cNvSpPr/>
          <p:nvPr/>
        </p:nvSpPr>
        <p:spPr>
          <a:xfrm>
            <a:off x="1043357" y="4292975"/>
            <a:ext cx="2690759" cy="2690759"/>
          </a:xfrm>
          <a:prstGeom prst="ellipse">
            <a:avLst/>
          </a:prstGeom>
          <a:solidFill>
            <a:srgbClr val="FA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865F77-7486-2B8D-2D6C-10B8066F7AFA}"/>
              </a:ext>
            </a:extLst>
          </p:cNvPr>
          <p:cNvSpPr/>
          <p:nvPr/>
        </p:nvSpPr>
        <p:spPr>
          <a:xfrm>
            <a:off x="1043357" y="8560175"/>
            <a:ext cx="2690759" cy="2690759"/>
          </a:xfrm>
          <a:prstGeom prst="ellipse">
            <a:avLst/>
          </a:prstGeom>
          <a:solidFill>
            <a:srgbClr val="C26D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BA44B2-535E-E552-13DF-99929C420588}"/>
              </a:ext>
            </a:extLst>
          </p:cNvPr>
          <p:cNvSpPr/>
          <p:nvPr/>
        </p:nvSpPr>
        <p:spPr>
          <a:xfrm>
            <a:off x="1043357" y="13055975"/>
            <a:ext cx="2690759" cy="2690759"/>
          </a:xfrm>
          <a:prstGeom prst="ellipse">
            <a:avLst/>
          </a:prstGeom>
          <a:solidFill>
            <a:srgbClr val="1A4D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13F345-D3B5-8718-974D-E6E5F64C6507}"/>
              </a:ext>
            </a:extLst>
          </p:cNvPr>
          <p:cNvSpPr txBox="1"/>
          <p:nvPr/>
        </p:nvSpPr>
        <p:spPr>
          <a:xfrm>
            <a:off x="4941436" y="5219254"/>
            <a:ext cx="320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#FAF9F6</a:t>
            </a:r>
          </a:p>
          <a:p>
            <a:endParaRPr lang="pt-PT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pt-PT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C93941A-3B5A-F9CC-45FF-D5C1C7EAB39D}"/>
              </a:ext>
            </a:extLst>
          </p:cNvPr>
          <p:cNvSpPr txBox="1"/>
          <p:nvPr/>
        </p:nvSpPr>
        <p:spPr>
          <a:xfrm>
            <a:off x="4930006" y="9410254"/>
            <a:ext cx="3211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#C26D53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29034B-CD37-76D1-8EAF-856F52D51B5E}"/>
              </a:ext>
            </a:extLst>
          </p:cNvPr>
          <p:cNvSpPr txBox="1"/>
          <p:nvPr/>
        </p:nvSpPr>
        <p:spPr>
          <a:xfrm>
            <a:off x="4918576" y="14386114"/>
            <a:ext cx="29451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800"/>
            </a:lvl1pPr>
          </a:lstStyle>
          <a:p>
            <a:r>
              <a:rPr lang="pt-PT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#1A4D4E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79D8A7-95CE-6EFA-B8A0-1A3AB2DFEC94}"/>
              </a:ext>
            </a:extLst>
          </p:cNvPr>
          <p:cNvSpPr txBox="1"/>
          <p:nvPr/>
        </p:nvSpPr>
        <p:spPr>
          <a:xfrm>
            <a:off x="460876" y="734345"/>
            <a:ext cx="11860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200" dirty="0">
                <a:latin typeface="Montserrat SemiBold" panose="00000700000000000000" pitchFamily="2" charset="0"/>
              </a:rPr>
              <a:t>PANTONE</a:t>
            </a:r>
            <a:endParaRPr lang="pt-PT" dirty="0">
              <a:latin typeface="Montserrat SemiBold" panose="000007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19CC297-C39C-6ED5-0922-F1A1807796EC}"/>
              </a:ext>
            </a:extLst>
          </p:cNvPr>
          <p:cNvSpPr txBox="1"/>
          <p:nvPr/>
        </p:nvSpPr>
        <p:spPr>
          <a:xfrm>
            <a:off x="12866235" y="5442121"/>
            <a:ext cx="4648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#D6D2C4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E0E78-1C23-DAC3-9E8C-2ABC2A2B3A14}"/>
              </a:ext>
            </a:extLst>
          </p:cNvPr>
          <p:cNvSpPr/>
          <p:nvPr/>
        </p:nvSpPr>
        <p:spPr>
          <a:xfrm>
            <a:off x="9337726" y="4512240"/>
            <a:ext cx="2690759" cy="2690759"/>
          </a:xfrm>
          <a:prstGeom prst="ellipse">
            <a:avLst/>
          </a:prstGeom>
          <a:solidFill>
            <a:srgbClr val="D6D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C0D2701-3A77-F9DE-F319-DD9977ECA9B4}"/>
              </a:ext>
            </a:extLst>
          </p:cNvPr>
          <p:cNvSpPr txBox="1"/>
          <p:nvPr/>
        </p:nvSpPr>
        <p:spPr>
          <a:xfrm>
            <a:off x="12980535" y="9586953"/>
            <a:ext cx="441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#A3B18A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97C046-5C6C-6DBD-B26B-30839F7C27C9}"/>
              </a:ext>
            </a:extLst>
          </p:cNvPr>
          <p:cNvSpPr/>
          <p:nvPr/>
        </p:nvSpPr>
        <p:spPr>
          <a:xfrm>
            <a:off x="9337726" y="8657074"/>
            <a:ext cx="2690759" cy="2690759"/>
          </a:xfrm>
          <a:prstGeom prst="ellipse">
            <a:avLst/>
          </a:prstGeom>
          <a:solidFill>
            <a:srgbClr val="A3B1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5722F23-F4B1-5720-F4B7-BEF648466FB9}"/>
              </a:ext>
            </a:extLst>
          </p:cNvPr>
          <p:cNvSpPr txBox="1"/>
          <p:nvPr/>
        </p:nvSpPr>
        <p:spPr>
          <a:xfrm>
            <a:off x="12870045" y="14227088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#333F48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8330FD-71B4-9378-AC45-A7B41A1FEF83}"/>
              </a:ext>
            </a:extLst>
          </p:cNvPr>
          <p:cNvSpPr/>
          <p:nvPr/>
        </p:nvSpPr>
        <p:spPr>
          <a:xfrm>
            <a:off x="9356776" y="13297208"/>
            <a:ext cx="2690759" cy="2690759"/>
          </a:xfrm>
          <a:prstGeom prst="ellipse">
            <a:avLst/>
          </a:prstGeom>
          <a:solidFill>
            <a:srgbClr val="333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7435F7E-C785-232F-974E-23DF97EE1C51}"/>
              </a:ext>
            </a:extLst>
          </p:cNvPr>
          <p:cNvSpPr txBox="1"/>
          <p:nvPr/>
        </p:nvSpPr>
        <p:spPr>
          <a:xfrm>
            <a:off x="400050" y="2716534"/>
            <a:ext cx="397737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CORES BASE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05FB10B-E6EC-6E79-DCFD-8B966AF4D99D}"/>
              </a:ext>
            </a:extLst>
          </p:cNvPr>
          <p:cNvSpPr txBox="1"/>
          <p:nvPr/>
        </p:nvSpPr>
        <p:spPr>
          <a:xfrm>
            <a:off x="8370436" y="2837195"/>
            <a:ext cx="51491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COMPLEMENTO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D95C216C-B8E8-0EC4-934A-EB195FFE3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9873" y="2716534"/>
            <a:ext cx="11860531" cy="1384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Títulos:</a:t>
            </a:r>
            <a:r>
              <a:rPr kumimoji="0" lang="pt-PT" altLang="pt-PT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 Montserrat </a:t>
            </a:r>
            <a:r>
              <a:rPr kumimoji="0" lang="pt-PT" altLang="pt-PT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Semi</a:t>
            </a:r>
            <a:r>
              <a:rPr kumimoji="0" lang="pt-PT" altLang="pt-PT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 SemiBold" panose="00000700000000000000" pitchFamily="2" charset="0"/>
              </a:rPr>
              <a:t> Bold</a:t>
            </a:r>
            <a:r>
              <a:rPr kumimoji="0" lang="pt-PT" altLang="pt-PT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4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Textos: </a:t>
            </a:r>
            <a:r>
              <a:rPr lang="pt-PT" altLang="pt-PT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PT" altLang="pt-PT" sz="4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b="1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Textos de Apoio:</a:t>
            </a:r>
            <a:r>
              <a:rPr lang="pt-PT" altLang="pt-PT" sz="4800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Lato </a:t>
            </a:r>
            <a:r>
              <a:rPr lang="pt-PT" altLang="pt-PT" sz="4800" b="1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Regular</a:t>
            </a:r>
            <a:r>
              <a:rPr lang="pt-PT" altLang="pt-PT" sz="4800" dirty="0">
                <a:latin typeface="Lato regular" panose="020F0502020204030203" pitchFamily="34" charset="0"/>
                <a:ea typeface="Lato regular" panose="020F0502020204030203" pitchFamily="34" charset="0"/>
                <a:cs typeface="Lato regular" panose="020F0502020204030203" pitchFamily="34" charset="0"/>
              </a:rPr>
              <a:t> (evite o Light em apresentações, pois pode ficar difícil de ler em projetores).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PT" sz="4800" dirty="0">
              <a:latin typeface="Lato regular" panose="020F0502020204030203" pitchFamily="34" charset="0"/>
              <a:ea typeface="Lato regular" panose="020F0502020204030203" pitchFamily="34" charset="0"/>
              <a:cs typeface="Lato regular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dirty="0" err="1">
                <a:latin typeface="Inter"/>
                <a:ea typeface="Lato regular" panose="020F0502020204030203" pitchFamily="34" charset="0"/>
                <a:cs typeface="Lato regular" panose="020F0502020204030203" pitchFamily="34" charset="0"/>
              </a:rPr>
              <a:t>Inter</a:t>
            </a:r>
            <a:r>
              <a:rPr lang="pt-PT" altLang="pt-PT" sz="4800" dirty="0">
                <a:latin typeface="Inter"/>
                <a:ea typeface="Lato regular" panose="020F0502020204030203" pitchFamily="34" charset="0"/>
                <a:cs typeface="Lato regular" panose="020F0502020204030203" pitchFamily="34" charset="0"/>
              </a:rPr>
              <a:t> (evite o light em apresentações, pois pode ficar difícil de ler em projetores.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PT" sz="4800" dirty="0">
              <a:latin typeface="Lato regular" panose="020F0502020204030203" pitchFamily="34" charset="0"/>
              <a:ea typeface="Lato regular" panose="020F0502020204030203" pitchFamily="34" charset="0"/>
              <a:cs typeface="Lato regular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4800" b="1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Destaques no texto: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54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Lato </a:t>
            </a:r>
            <a:r>
              <a:rPr lang="pt-PT" altLang="pt-PT" sz="5400" b="1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Bold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PT" sz="6000" b="1" i="1" dirty="0" err="1">
                <a:latin typeface="Fraunces"/>
                <a:ea typeface="Lato Bold" panose="020F0502020204030203" pitchFamily="34" charset="0"/>
                <a:cs typeface="Lato Bold" panose="020F0502020204030203" pitchFamily="34" charset="0"/>
              </a:rPr>
              <a:t>Fraunces</a:t>
            </a:r>
            <a:endParaRPr lang="pt-PT" altLang="pt-PT" sz="6000" b="1" i="1" dirty="0">
              <a:latin typeface="Fraunces"/>
              <a:ea typeface="Lato Bold" panose="020F0502020204030203" pitchFamily="34" charset="0"/>
              <a:cs typeface="Lato Bold" panose="020F050202020403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PT" sz="4800" dirty="0"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5AF136F-7E3F-3C3B-A11A-5744EE075F49}"/>
              </a:ext>
            </a:extLst>
          </p:cNvPr>
          <p:cNvSpPr txBox="1"/>
          <p:nvPr/>
        </p:nvSpPr>
        <p:spPr>
          <a:xfrm>
            <a:off x="19069050" y="1066800"/>
            <a:ext cx="118605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0" dirty="0">
                <a:latin typeface="Montserrat SemiBold" panose="00000700000000000000" pitchFamily="2" charset="0"/>
              </a:rPr>
              <a:t>TIPOLOGIA DE LETRA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2AEDA360-9169-48AE-B944-0AAB08584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5429-7A1B-64A3-0964-494663C7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C2327B-1D95-47DB-C337-DA2EA493AB8F}"/>
              </a:ext>
            </a:extLst>
          </p:cNvPr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75E3C5-F2C2-7F86-F53B-199AFAEC8384}"/>
                </a:ext>
              </a:extLst>
            </p:cNvPr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6"/>
            </a:solidFill>
          </p:spPr>
          <p:txBody>
            <a:bodyPr/>
            <a:lstStyle/>
            <a:p>
              <a:endParaRPr lang="pt-PT" dirty="0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562CAC-229A-2DE5-1FA2-6EA56FD02167}"/>
              </a:ext>
            </a:extLst>
          </p:cNvPr>
          <p:cNvSpPr txBox="1"/>
          <p:nvPr/>
        </p:nvSpPr>
        <p:spPr>
          <a:xfrm>
            <a:off x="10467977" y="1606970"/>
            <a:ext cx="118605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dirty="0">
                <a:solidFill>
                  <a:srgbClr val="1A4D4E"/>
                </a:solidFill>
                <a:latin typeface="Montserrat SemiBold" panose="00000700000000000000" pitchFamily="2" charset="0"/>
              </a:rPr>
              <a:t>Nossa Essência</a:t>
            </a:r>
            <a:endParaRPr lang="pt-PT" sz="2800" dirty="0">
              <a:solidFill>
                <a:srgbClr val="1A4D4E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4A1896-C8FA-B0DC-C73C-B81B742E49CA}"/>
              </a:ext>
            </a:extLst>
          </p:cNvPr>
          <p:cNvSpPr txBox="1"/>
          <p:nvPr/>
        </p:nvSpPr>
        <p:spPr>
          <a:xfrm>
            <a:off x="8667750" y="3716799"/>
            <a:ext cx="1531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000" dirty="0">
                <a:latin typeface="Inter"/>
              </a:rPr>
              <a:t> </a:t>
            </a:r>
            <a:r>
              <a:rPr lang="pt-PT" sz="6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conexão vital entre pessoas e resultados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0E35F051-6B7C-5749-C48D-89F3BAF76396}"/>
              </a:ext>
            </a:extLst>
          </p:cNvPr>
          <p:cNvCxnSpPr/>
          <p:nvPr/>
        </p:nvCxnSpPr>
        <p:spPr>
          <a:xfrm>
            <a:off x="13963650" y="1066800"/>
            <a:ext cx="4724400" cy="0"/>
          </a:xfrm>
          <a:prstGeom prst="line">
            <a:avLst/>
          </a:prstGeom>
          <a:ln w="76200">
            <a:solidFill>
              <a:srgbClr val="C26D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3BB6DF-BD13-8009-D9E2-F188ECCEB770}"/>
              </a:ext>
            </a:extLst>
          </p:cNvPr>
          <p:cNvSpPr txBox="1"/>
          <p:nvPr/>
        </p:nvSpPr>
        <p:spPr>
          <a:xfrm>
            <a:off x="7920990" y="8075414"/>
            <a:ext cx="16664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PT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BD85785-CEE4-0CE9-D637-3A2253E73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6096000"/>
            <a:ext cx="111633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0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1026-FE02-310B-048E-DE9B2FE3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C312D1-7CB7-D84E-50E7-36EF1311ACD9}"/>
              </a:ext>
            </a:extLst>
          </p:cNvPr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E2E1EF-B041-5FDC-CA98-71DBB1854000}"/>
                </a:ext>
              </a:extLst>
            </p:cNvPr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6"/>
            </a:solidFill>
          </p:spPr>
          <p:txBody>
            <a:bodyPr/>
            <a:lstStyle/>
            <a:p>
              <a:endParaRPr lang="pt-PT" dirty="0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EDBF5B-42DB-0AE3-F230-D7F78C265F32}"/>
              </a:ext>
            </a:extLst>
          </p:cNvPr>
          <p:cNvSpPr txBox="1"/>
          <p:nvPr/>
        </p:nvSpPr>
        <p:spPr>
          <a:xfrm>
            <a:off x="1238250" y="1606970"/>
            <a:ext cx="21090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600" dirty="0">
                <a:solidFill>
                  <a:srgbClr val="1A4D4E"/>
                </a:solidFill>
                <a:latin typeface="Montserrat SemiBold" panose="00000700000000000000" pitchFamily="2" charset="0"/>
              </a:rPr>
              <a:t>Propósito e Valores</a:t>
            </a:r>
            <a:endParaRPr lang="pt-PT" sz="2800" dirty="0">
              <a:solidFill>
                <a:srgbClr val="1A4D4E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AE309EA-B31D-52A5-125D-BB65BCC47E01}"/>
              </a:ext>
            </a:extLst>
          </p:cNvPr>
          <p:cNvSpPr/>
          <p:nvPr/>
        </p:nvSpPr>
        <p:spPr>
          <a:xfrm>
            <a:off x="1543050" y="7162800"/>
            <a:ext cx="12344400" cy="5257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4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endParaRPr lang="pt-PT" sz="4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pt-PT" sz="4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Mover os sistemas vivos das organizações para que pessoas, lideranças e negócios cresçam juntos — com profundidade humana, clareza metodológica e leveza.</a:t>
            </a:r>
            <a:endParaRPr lang="pt-PT" sz="60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D77BE80-C36F-1C7C-F13B-CB35D6CA6471}"/>
              </a:ext>
            </a:extLst>
          </p:cNvPr>
          <p:cNvSpPr/>
          <p:nvPr/>
        </p:nvSpPr>
        <p:spPr>
          <a:xfrm>
            <a:off x="17110727" y="7166811"/>
            <a:ext cx="12344400" cy="5257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E87585-D49A-2563-7282-985CDBE13A91}"/>
              </a:ext>
            </a:extLst>
          </p:cNvPr>
          <p:cNvSpPr txBox="1"/>
          <p:nvPr/>
        </p:nvSpPr>
        <p:spPr>
          <a:xfrm>
            <a:off x="1695450" y="7543800"/>
            <a:ext cx="53320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600" dirty="0">
                <a:solidFill>
                  <a:srgbClr val="C26D53"/>
                </a:solidFill>
                <a:latin typeface="Montserrat SemiBold" panose="00000700000000000000" pitchFamily="2" charset="0"/>
              </a:rPr>
              <a:t>Propósito</a:t>
            </a:r>
            <a:endParaRPr lang="pt-PT" dirty="0">
              <a:solidFill>
                <a:srgbClr val="C26D53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A77E11-74FB-AFE8-05A3-FFF8395F721F}"/>
              </a:ext>
            </a:extLst>
          </p:cNvPr>
          <p:cNvSpPr txBox="1"/>
          <p:nvPr/>
        </p:nvSpPr>
        <p:spPr>
          <a:xfrm>
            <a:off x="17849850" y="7772400"/>
            <a:ext cx="426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600" dirty="0">
                <a:solidFill>
                  <a:srgbClr val="C26D53"/>
                </a:solidFill>
                <a:latin typeface="Montserrat SemiBold" panose="00000700000000000000" pitchFamily="2" charset="0"/>
              </a:rPr>
              <a:t>Valores</a:t>
            </a:r>
            <a:endParaRPr lang="pt-PT" dirty="0">
              <a:solidFill>
                <a:srgbClr val="C26D53"/>
              </a:solidFill>
              <a:latin typeface="Montserrat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02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E8ADD-111A-80D2-16CD-CA3BF68C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9233CF-90BD-8192-AFA3-4AB4C32C3ABC}"/>
              </a:ext>
            </a:extLst>
          </p:cNvPr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483D27-7286-D412-1E58-DF6D05866C60}"/>
                </a:ext>
              </a:extLst>
            </p:cNvPr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6"/>
            </a:solidFill>
          </p:spPr>
          <p:txBody>
            <a:bodyPr/>
            <a:lstStyle/>
            <a:p>
              <a:endParaRPr lang="pt-PT" dirty="0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C61E66F3-C775-E19E-CC06-201F6B322056}"/>
              </a:ext>
            </a:extLst>
          </p:cNvPr>
          <p:cNvSpPr txBox="1"/>
          <p:nvPr/>
        </p:nvSpPr>
        <p:spPr>
          <a:xfrm>
            <a:off x="1238250" y="1606970"/>
            <a:ext cx="21090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600" dirty="0">
                <a:solidFill>
                  <a:srgbClr val="1A4D4E"/>
                </a:solidFill>
                <a:latin typeface="Montserrat SemiBold" panose="00000700000000000000" pitchFamily="2" charset="0"/>
              </a:rPr>
              <a:t>Nosso time</a:t>
            </a:r>
            <a:endParaRPr lang="pt-PT" sz="2800" dirty="0">
              <a:solidFill>
                <a:srgbClr val="1A4D4E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894126-8388-6588-48BD-E940C8EC05C6}"/>
              </a:ext>
            </a:extLst>
          </p:cNvPr>
          <p:cNvSpPr txBox="1"/>
          <p:nvPr/>
        </p:nvSpPr>
        <p:spPr>
          <a:xfrm>
            <a:off x="17849850" y="7772400"/>
            <a:ext cx="1043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400" dirty="0">
                <a:solidFill>
                  <a:srgbClr val="1A4D4E"/>
                </a:solidFill>
                <a:latin typeface="Montserrat SemiBold" panose="00000700000000000000" pitchFamily="2" charset="0"/>
              </a:rPr>
              <a:t>XXXX</a:t>
            </a:r>
          </a:p>
          <a:p>
            <a:r>
              <a:rPr lang="pt-PT" sz="5400" dirty="0">
                <a:solidFill>
                  <a:srgbClr val="C26D53"/>
                </a:solidFill>
                <a:latin typeface="Montserrat SemiBold" panose="00000700000000000000" pitchFamily="2" charset="0"/>
              </a:rPr>
              <a:t>Sócia | Administradora</a:t>
            </a:r>
            <a:endParaRPr lang="pt-PT" sz="1400" dirty="0">
              <a:solidFill>
                <a:srgbClr val="C26D53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C39A7C-D179-5257-4B06-F66964FA5055}"/>
              </a:ext>
            </a:extLst>
          </p:cNvPr>
          <p:cNvSpPr txBox="1"/>
          <p:nvPr/>
        </p:nvSpPr>
        <p:spPr>
          <a:xfrm>
            <a:off x="17849850" y="9896654"/>
            <a:ext cx="69342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xxxxxxxxxxxxxxxxxxxxxxxxxxxxxxxxxxxxxxxxxxxxxxxx</a:t>
            </a:r>
            <a:endParaRPr lang="pt-PT" sz="5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58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443</Words>
  <Application>Microsoft Office PowerPoint</Application>
  <PresentationFormat>Personalizados</PresentationFormat>
  <Paragraphs>51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9" baseType="lpstr">
      <vt:lpstr>Montserrat SemiBold</vt:lpstr>
      <vt:lpstr>Fraunces</vt:lpstr>
      <vt:lpstr>Lato Bold</vt:lpstr>
      <vt:lpstr>Lato</vt:lpstr>
      <vt:lpstr>Inter</vt:lpstr>
      <vt:lpstr>Calibri</vt:lpstr>
      <vt:lpstr>Arial</vt:lpstr>
      <vt:lpstr>Lato regular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Institucional Vivaz (1).pdf</dc:title>
  <dc:creator>lenovo yoga</dc:creator>
  <cp:lastModifiedBy>Elisângela Forti Chitero</cp:lastModifiedBy>
  <cp:revision>9</cp:revision>
  <dcterms:created xsi:type="dcterms:W3CDTF">2006-08-16T00:00:00Z</dcterms:created>
  <dcterms:modified xsi:type="dcterms:W3CDTF">2026-08-04T08:52:34Z</dcterms:modified>
  <dc:identifier>DAHIK9hP-VM</dc:identifier>
</cp:coreProperties>
</file>